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1371600" cy="50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SmartPay 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009688"/>
                </a:solidFill>
              </a:defRPr>
            </a:pPr>
            <a:r>
              <a:t>AI-Powered Invoice Reconciliation Architecture</a:t>
            </a:r>
          </a:p>
          <a:p>
            <a:pPr>
              <a:spcBef>
                <a:spcPts val="800"/>
              </a:spcBef>
              <a:defRPr sz="1600">
                <a:solidFill>
                  <a:srgbClr val="90A4AE"/>
                </a:solidFill>
              </a:defRPr>
            </a:pPr>
            <a:r>
              <a:t>End-to-End System Design &amp;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C757D"/>
                </a:solidFill>
              </a:defRPr>
            </a:pPr>
            <a:r>
              <a:t>Acme Manufacturing  |  AI Architect Assessment  | 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0" lIns="30480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Executive Summary &amp; Business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500" b="1">
                <a:solidFill>
                  <a:srgbClr val="009688"/>
                </a:solidFill>
              </a:defRPr>
            </a:pPr>
            <a:r>
              <a:t>Problem Domain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Accounts Payable reconciliation at Acme Manufacturing: 300+ invoices/cycle,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manual three-way matching (Invoice ↔ PO ↔ GRN) consuming 8–12 analyst hours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500" b="1">
                <a:solidFill>
                  <a:srgbClr val="009688"/>
                </a:solidFill>
              </a:defRPr>
            </a:pPr>
            <a:r>
              <a:t>Solution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SmartPay AP: An AI-powered reconciliation system combining deterministic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matching rules with agentic orchestration and human-in-the-loop governance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500" b="1">
                <a:solidFill>
                  <a:srgbClr val="009688"/>
                </a:solidFill>
              </a:defRPr>
            </a:pPr>
            <a:r>
              <a:t>Key Outcomes</a:t>
            </a:r>
          </a:p>
          <a:p>
            <a:pPr lvl="1"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• &lt;1 second end-to-end matching (vs. 8–12 hours manual)</a:t>
            </a:r>
          </a:p>
          <a:p>
            <a:pPr lvl="1"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• 4-class mismatch taxonomy: PRICE, QUANTITY, TAX, MISSING_PO</a:t>
            </a:r>
          </a:p>
          <a:p>
            <a:pPr lvl="1"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• Zero autonomous external actions (HITL gate on all emails)</a:t>
            </a:r>
          </a:p>
          <a:p>
            <a:pPr lvl="1"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• EU AI Act Article 14 compliant (human oversight by design)</a:t>
            </a:r>
          </a:p>
          <a:p>
            <a:pPr lvl="1"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• Production-ready: guardrails, audit trail, graceful degradation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C757D"/>
                </a:solidFill>
              </a:defRPr>
            </a:pPr>
            <a:r>
              <a:t>SmartPay AP | AI Architect Case Study | Acme Manufacturing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0" lIns="30480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C4 Model — Level 1: System Context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8412480" cy="4754880"/>
          </a:xfrm>
          <a:prstGeom prst="roundRect">
            <a:avLst/>
          </a:prstGeom>
          <a:solidFill>
            <a:srgbClr val="F5F5F5"/>
          </a:solidFill>
          <a:ln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│                         SYSTEM CONTEXT                     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├─────────────────────────────────────────────────────────────────────────┤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│                                                            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│   ┌──────────────┐          ┌──────────────────┐          ┌──────────┐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│   │   Finance    │          │   SmartPay AP    │          │  OpenAI  │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│   │   Analyst    │─────────▶│   System         │─────────▶│  API     │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│   │   [Person]   │◀─────────│   [Software]     │◀─────────│  [Ext]   │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│   └──────────────┘  Reviews └──────────────────┘  LLM     └──────────┘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│        │            &amp; approves       │           emails     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│        │             emails          │                      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│        │                             ▼                      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│        │                    ┌──────────────────┐            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│        │                    │   ERP / Data     │            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│        └───────────────────▶│   Source (CSV)   │            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│           Uploads data      │   [External]     │            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│                             └──────────────────┘            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│                                                            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└─────────────────────────────────────────────────────────────────────────┘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C757D"/>
                </a:solidFill>
              </a:defRPr>
            </a:pPr>
            <a:r>
              <a:t>C4 Level 1: Who uses the system and what external systems does it interact with?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30936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C757D"/>
                </a:solidFill>
              </a:defRPr>
            </a:pPr>
            <a:r>
              <a:t>SmartPay AP | AI Architect Case Study | Acme Manufacturing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0" lIns="30480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C4 Model — Level 2: Container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8412480" cy="4754880"/>
          </a:xfrm>
          <a:prstGeom prst="roundRect">
            <a:avLst/>
          </a:prstGeom>
          <a:solidFill>
            <a:srgbClr val="F5F5F5"/>
          </a:solidFill>
          <a:ln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┌───────────────────────── SmartPay AP ──────────────────────────────────┐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│                                                           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│  ┌────────────────┐   ┌────────────────┐   ┌────────────────────────┐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│  │  Data Pipeline │   │  Matching       │   │  Agentic Workflow      │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│  │  [Container]   │──▶│  Engine         │──▶│  [Container]           │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│  │                │   │  [Container]    │   │                        │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│  │  • data_loader │   │  • matcher      │   │  • LangGraph StateGraph│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│  │  • CSV parsing │   │  • classifier   │   │  • Planner node        │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│  │  • aggregation │   │  • evaluator    │   │  • Matcher tool node   │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│  └────────────────┘   └────────────────┘   │  • Dispute node        │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│                                             │  • Approval gate (HITL)│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│  ┌────────────────┐   ┌────────────────┐   └────────────────────────┘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│  │  Email Engine  │   │  Guardrails    │                  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│  │  [Container]   │   │  [Container]   │   ┌────────────────────────┐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│  │                │   │                 │   │  Evaluation Engine     │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│  │  • LLM mode    │   │  • ID validator │   │  [Container]           │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│  │  • Template    │   │  • Tool whitelist│  │  • sklearn metrics    │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│  │    fallback    │   │  • HITL enforcer│   │  • P/R/F1 per class   │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│  └────────────────┘   └────────────────┘   └────────────────────────┘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│                                                           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└─────────────────────────────────────────────────────────────────────────┘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C757D"/>
                </a:solidFill>
              </a:defRPr>
            </a:pPr>
            <a:r>
              <a:t>C4 Level 2: The major containers (deployable units) within SmartPay 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30936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C757D"/>
                </a:solidFill>
              </a:defRPr>
            </a:pPr>
            <a:r>
              <a:t>SmartPay AP | AI Architect Case Study | Acme Manufacturing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0" lIns="30480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Three-Layer Architecture (Industry Pattern)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500" b="1">
                <a:solidFill>
                  <a:srgbClr val="009688"/>
                </a:solidFill>
              </a:defRPr>
            </a:pPr>
            <a:r>
              <a:t>Layer 1: Deterministic Pipeline (Data Correctness)</a:t>
            </a:r>
          </a:p>
          <a:p>
            <a:pPr lvl="1"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• Schema validation, date parsing, numeric coercion</a:t>
            </a:r>
          </a:p>
          <a:p>
            <a:pPr lvl="1"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• Aggregation: 1,500 line items → 300 invoice totals</a:t>
            </a:r>
          </a:p>
          <a:p>
            <a:pPr lvl="1"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• ID-suffix matching (INV0001 → PO0001) — 100% precision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500" b="1">
                <a:solidFill>
                  <a:srgbClr val="009688"/>
                </a:solidFill>
              </a:defRPr>
            </a:pPr>
            <a:r>
              <a:t>Layer 2: Inference Layer (Classification &amp; Interpretation)</a:t>
            </a:r>
          </a:p>
          <a:p>
            <a:pPr lvl="1"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• Priority-ordered rule engine (4 mismatch classes)</a:t>
            </a:r>
          </a:p>
          <a:p>
            <a:pPr lvl="1"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• Confidence scoring per classification (0.70 – 1.0)</a:t>
            </a:r>
          </a:p>
          <a:p>
            <a:pPr lvl="1"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• Configurable thresholds (tolerance, quantity ratio)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500" b="1">
                <a:solidFill>
                  <a:srgbClr val="009688"/>
                </a:solidFill>
              </a:defRPr>
            </a:pPr>
            <a:r>
              <a:t>Layer 3: State &amp; Orchestration Layer (Agentic Control)</a:t>
            </a:r>
          </a:p>
          <a:p>
            <a:pPr lvl="1"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• LangGraph StateGraph with typed state schema</a:t>
            </a:r>
          </a:p>
          <a:p>
            <a:pPr lvl="1"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• Durable state transitions: planner → matcher → dispute → approval</a:t>
            </a:r>
          </a:p>
          <a:p>
            <a:pPr lvl="1"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• Conditional edges: approved → END, rejected → discard + audit log</a:t>
            </a:r>
          </a:p>
          <a:p>
            <a:pPr>
              <a:spcAft>
                <a:spcPts val="400"/>
              </a:spcAft>
            </a:pPr>
          </a:p>
          <a:p>
            <a:pPr lvl="1"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This three-layer pattern aligns with production reconciliation architectures</a:t>
            </a:r>
          </a:p>
          <a:p>
            <a:pPr lvl="1"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(ref: Sphere Inc. Payment Reconciliation Agent Architecture, 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C757D"/>
                </a:solidFill>
              </a:defRPr>
            </a:pPr>
            <a:r>
              <a:t>SmartPay AP | AI Architect Case Study | Acme Manufacturing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0" lIns="30480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Three-Way Matching — Domain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8412480" cy="4754880"/>
          </a:xfrm>
          <a:prstGeom prst="roundRect">
            <a:avLst/>
          </a:prstGeom>
          <a:solidFill>
            <a:srgbClr val="F5F5F5"/>
          </a:solidFill>
          <a:ln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┌──────────────────────────────────────────────────────────────┐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│              THREE-WAY MATCHING CONTROL         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│                                                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│    ┌─────────────┐                             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│    │  PURCHASE   │  ← What was ordered?        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│    │  ORDER (PO) │    (items, qty, price, vendor, currency)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│    └──────┬──────┘                             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│           │                                    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│           │ Match by numeric ID suffix         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│           │ (INV000X ↔ PO000X)                 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│           │                                    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│    ┌──────┴──────┐                             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│    │   INVOICE   │  ← What was billed?         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│    │ (Aggregated)│    (invoice_total = Σ line_totals)      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│    └──────┬──────┘                             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│           │                                    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│           │ Validate vendor_id + currency      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│           │                                    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│    ┌──────┴──────┐                             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│    │  GOODS REC  │  ← What was received?       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│    │  NOTE (GRN) │    (grn_number, grn_date confirm receipt)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│    └─────────────┘                             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│                                                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│    Decision: Pay only if ORDER = BILLED = RECEIVED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└──────────────────────────────────────────────────────────────┘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C757D"/>
                </a:solidFill>
              </a:defRPr>
            </a:pPr>
            <a:r>
              <a:t>Industry standard: verify PO ↔ Invoice ↔ GRN before payment release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30936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C757D"/>
                </a:solidFill>
              </a:defRPr>
            </a:pPr>
            <a:r>
              <a:t>SmartPay AP | AI Architect Case Study | Acme Manufacturing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0" lIns="30480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Classification Engine — Decision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8412480" cy="4754880"/>
          </a:xfrm>
          <a:prstGeom prst="roundRect">
            <a:avLst/>
          </a:prstGeom>
          <a:solidFill>
            <a:srgbClr val="F5F5F5"/>
          </a:solidFill>
          <a:ln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                ┌──────────────────┐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                │ Matched Invoice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                │   + PO Record 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                └────────┬─────────┘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           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                ┌────────▼─────────┐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                │ PO found?        │──── NO ──▶ MISSING_PO (conf: 1.0)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                └────────┬─────────┘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                         │ YES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                ┌────────▼─────────┐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                │ diff = inv - po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                │ |diff| &gt; tol?    │──── NO ──▶ MATCHED (no mismatch)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                └────────┬─────────┘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                         │ YES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                ┌────────▼─────────┐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                │ ratio = |diff|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                │  / min(inv, po)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                └────────┬─────────┘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           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          ┌──────────────┼──────────────┐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          │              │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   5% ≤ ratio ≤ 25%   ratio &gt; 20%   else (&lt; 5%)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          │              │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          ▼              ▼              ▼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    TAX_MISCODE   QUANTITY_VAR    PRICE_VARIANCE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    (conf: 0.80)  (conf: 0.75)   (conf: 0.70)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C757D"/>
                </a:solidFill>
              </a:defRPr>
            </a:pPr>
            <a:r>
              <a:t>Priority-ordered rules prevent multi-classification; confidence enables triage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30936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C757D"/>
                </a:solidFill>
              </a:defRPr>
            </a:pPr>
            <a:r>
              <a:t>SmartPay AP | AI Architect Case Study | Acme Manufacturing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0" lIns="30480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LangGraph Agentic Workflow — State Machine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8412480" cy="4754880"/>
          </a:xfrm>
          <a:prstGeom prst="roundRect">
            <a:avLst/>
          </a:prstGeom>
          <a:solidFill>
            <a:srgbClr val="F5F5F5"/>
          </a:solidFill>
          <a:ln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┌─────────────────────────────────────────────────────────────────────┐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│                    ReconciliationState (TypedDict)      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│   invoices | plan | matches | mismatches | emails | approved | step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└─────────────────────────────────────────────────────────────────────┘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    ┌──────────┐      ┌──────────┐      ┌──────────────┐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START─▶│ PLANNER  │─────▶│ MATCHER  │─────▶│   DISPUTE 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    │          │      │ (tool)   │      │  GENERATOR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    │ Analyze  │      │ Match +  │      │  LLM/Template│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    │ &amp; plan   │      │ Classify │      │  email draft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    └──────────┘      └──────────┘      └──────┬───────┘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                                   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                                        ┌────────▼────────┐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                                        │  HUMAN APPROVAL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                                        │     GATE     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                                        │  ┌───┐  ┌───┐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                                        │  │ Y │  │ N │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                                        │  └─┬─┘  └─┬─┘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                                        └────┼──────┼────┘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                                             │   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                                        ┌────▼──┐ ┌─▼──────┐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                                        │  END  │ │DISCARD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                                        │(send) │ │+ audit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                                        └───────┘ └────────┘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C757D"/>
                </a:solidFill>
              </a:defRPr>
            </a:pPr>
            <a:r>
              <a:t>LangGraph: graph-structured orchestration with explicit state, conditional edges, HITL interrupt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30936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C757D"/>
                </a:solidFill>
              </a:defRPr>
            </a:pPr>
            <a:r>
              <a:t>SmartPay AP | AI Architect Case Study | Acme Manufacturing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0" lIns="30480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Human-in-the-Loop (HITL)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500" b="1">
                <a:solidFill>
                  <a:srgbClr val="009688"/>
                </a:solidFill>
              </a:defRPr>
            </a:pPr>
            <a:r>
              <a:t>Why HITL? (Industry Context)</a:t>
            </a:r>
          </a:p>
          <a:p>
            <a:pPr lvl="1"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• HITL reduces hallucination-related errors by 96% (AnyReach, 2025)</a:t>
            </a:r>
          </a:p>
          <a:p>
            <a:pPr lvl="1"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• EU AI Act Article 14: Human oversight mandatory for high-risk AI</a:t>
            </a:r>
          </a:p>
          <a:p>
            <a:pPr lvl="1"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• Finance domain: No automated external action without approval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500" b="1">
                <a:solidFill>
                  <a:srgbClr val="009688"/>
                </a:solidFill>
              </a:defRPr>
            </a:pPr>
            <a:r>
              <a:t>SmartPay AP HITL Implementation</a:t>
            </a:r>
          </a:p>
          <a:p>
            <a:pPr lvl="1"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• Approval Gate: Every email requires explicit y/n before send</a:t>
            </a:r>
          </a:p>
          <a:p>
            <a:pPr lvl="1"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• Confidence Display: Each draft shows classification confidence %</a:t>
            </a:r>
          </a:p>
          <a:p>
            <a:pPr lvl="1"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• Rejection Audit: Discarded drafts logged with reason for compliance</a:t>
            </a:r>
          </a:p>
          <a:p>
            <a:pPr lvl="1"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• Progressive Autonomy: Design supports future confidence-based auto-routing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500" b="1">
                <a:solidFill>
                  <a:srgbClr val="009688"/>
                </a:solidFill>
              </a:defRPr>
            </a:pPr>
            <a:r>
              <a:t>Guardrail Stack</a:t>
            </a:r>
          </a:p>
          <a:p>
            <a:pPr lvl="1"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• Layer 1: Input Validation — regex enforcement (^INV\d+$)</a:t>
            </a:r>
          </a:p>
          <a:p>
            <a:pPr lvl="1"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• Layer 2: Tool Whitelist — only [match_invoices, classify, generate_email]</a:t>
            </a:r>
          </a:p>
          <a:p>
            <a:pPr lvl="1"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• Layer 3: State Enforcement — prevent_auto_send() checks workflow step</a:t>
            </a:r>
          </a:p>
          <a:p>
            <a:pPr lvl="1"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• Layer 4: GuardrailViolation exception halts + logs any breach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C757D"/>
                </a:solidFill>
              </a:defRPr>
            </a:pPr>
            <a:r>
              <a:t>SmartPay AP | AI Architect Case Study | Acme Manufacturing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0" lIns="30480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Evaluation Framework &amp;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188720"/>
          <a:ext cx="84124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3D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03D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03D5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Precision (per-class)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sklearn classification_report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False positive control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Recall (per-class)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sklearn classification_report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Coverage completeness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F1 (per-class)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Harmonic mean of P &amp; R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Balanced accuracy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Macro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Unweighted avg across 4 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Overall system quality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Support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Count per class in ground truth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Class imbalance detection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Alignment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Inner-join on invoice_id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Handle pred/truth size mismatch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30936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C757D"/>
                </a:solidFill>
              </a:defRPr>
            </a:pPr>
            <a:r>
              <a:t>SmartPay AP | AI Architect Case Study | Acme Manufacturing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0" lIns="30480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Architecture Decision Records (ADRs)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188720"/>
          <a:ext cx="84124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003D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Choice</a:t>
                      </a:r>
                    </a:p>
                  </a:txBody>
                  <a:tcPr>
                    <a:solidFill>
                      <a:srgbClr val="003D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Alternative</a:t>
                      </a:r>
                    </a:p>
                  </a:txBody>
                  <a:tcPr>
                    <a:solidFill>
                      <a:srgbClr val="003D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Rationale</a:t>
                      </a:r>
                    </a:p>
                  </a:txBody>
                  <a:tcPr>
                    <a:solidFill>
                      <a:srgbClr val="003D5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Orchestration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LangGraph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CrewAI, AutoGen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Explicit state, native HITL interrupts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Rule-based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Random Forest, 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82 labels insufficient; auditability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Email Gen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LLM + Template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LLM-only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Graceful degradation, no API dependency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Matching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ID-suffix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Fuzzy, ML-embed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100% precision on structured IDs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Data Processing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pandas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PySpark, Polars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Right-sized for &lt;1K records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State Mgmt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TypedDict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Pydantic, dataclass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LangGraph native, zero overhead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30936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C757D"/>
                </a:solidFill>
              </a:defRPr>
            </a:pPr>
            <a:r>
              <a:t>SmartPay AP | AI Architect Case Study | Acme Manufacturing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0" lIns="30480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Production Deployment — Multi-Cloud Topology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8412480" cy="4754880"/>
          </a:xfrm>
          <a:prstGeom prst="roundRect">
            <a:avLst/>
          </a:prstGeom>
          <a:solidFill>
            <a:srgbClr val="F5F5F5"/>
          </a:solidFill>
          <a:ln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┌────────────────── AZURE (Primary Region) ────────────────────────────┐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│                                                         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│  ┌─────────────┐    ┌──────────────────┐    ┌───────────────────┐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│  │ Blob Storage│───▶│ Azure Functions  │───▶│  Azure OpenAI     │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│  │ (CSV ingest)│    │ (Matching Engine)│    │  (Email drafting) │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│  └─────────────┘    └────────┬─────────┘    └───────────────────┘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│                              │                          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│                     ┌────────▼─────────┐               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│                     │  Cosmos DB        │               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│                     │  (Workflow State) │               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│                     └──────────────────┘                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└───────────────────────────────────────────────────────────────────────┘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                            │ Replication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┌───────────────────────────▼───────────────────────────────────────────┐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│                    AWS (DR Region)                        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│  S3 (replicated data) → Lambda (backup) → Bedrock (LLM fallback)   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│  DynamoDB (state replica)                                 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└───────────────────────────────────────────────────────────────────────┘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Shared: Azure AD/IAM | Key Vault/Secrets Manager | CI/CD | Monitor/CW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onsolas"/>
              </a:defRPr>
            </a:pPr>
            <a:r>
              <a:t>  Estimated cost: $50–$100/mo (serverless, scales to zero when idle)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C757D"/>
                </a:solidFill>
              </a:defRPr>
            </a:pPr>
            <a:r>
              <a:t>Active-passive multi-cloud: Azure primary (enterprise agreement), AWS for DR + Bedrock fallback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30936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C757D"/>
                </a:solidFill>
              </a:defRPr>
            </a:pPr>
            <a:r>
              <a:t>SmartPay AP | AI Architect Case Study | Acme Manufacturing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0" lIns="30480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Observability, SRE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500" b="1">
                <a:solidFill>
                  <a:srgbClr val="009688"/>
                </a:solidFill>
              </a:defRPr>
            </a:pPr>
            <a:r>
              <a:t>Observability Stack</a:t>
            </a:r>
          </a:p>
          <a:p>
            <a:pPr lvl="1"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• Structured logging (Python logging → Azure Monitor / CloudWatch)</a:t>
            </a:r>
          </a:p>
          <a:p>
            <a:pPr lvl="1"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• Metrics: match rate, mismatch volume by type, approval rate, latency</a:t>
            </a:r>
          </a:p>
          <a:p>
            <a:pPr lvl="1"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• Alerting: F1 &lt; 0.85, rejection rate &gt; 50%, guardrail violations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500" b="1">
                <a:solidFill>
                  <a:srgbClr val="009688"/>
                </a:solidFill>
              </a:defRPr>
            </a:pPr>
            <a:r>
              <a:t>SRE Considerations</a:t>
            </a:r>
          </a:p>
          <a:p>
            <a:pPr lvl="1"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• SLO: 99.9% pipeline availability (batch, non-realtime)</a:t>
            </a:r>
          </a:p>
          <a:p>
            <a:pPr lvl="1"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• Circuit breaker on OpenAI API → template fallback within 500ms</a:t>
            </a:r>
          </a:p>
          <a:p>
            <a:pPr lvl="1"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• Idempotent processing: re-run safe (CSV inputs are immutable)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500" b="1">
                <a:solidFill>
                  <a:srgbClr val="009688"/>
                </a:solidFill>
              </a:defRPr>
            </a:pPr>
            <a:r>
              <a:t>Compliance Mapping</a:t>
            </a:r>
          </a:p>
          <a:p>
            <a:pPr lvl="1"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• EU AI Act Art. 14: Human oversight ✓ (Approval Gate)</a:t>
            </a:r>
          </a:p>
          <a:p>
            <a:pPr lvl="1"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• EU AI Act Art. 11: Technical documentation ✓ (docs/architecture.md)</a:t>
            </a:r>
          </a:p>
          <a:p>
            <a:pPr lvl="1"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• SOX Section 404: Internal controls ✓ (3-way match + audit log)</a:t>
            </a:r>
          </a:p>
          <a:p>
            <a:pPr lvl="1"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• GDPR: No personal data in pipeline (vendor = business entity)</a:t>
            </a:r>
          </a:p>
          <a:p>
            <a:pPr lvl="1"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• AI Literacy (Art. 4): README + architecture docs for operators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C757D"/>
                </a:solidFill>
              </a:defRPr>
            </a:pPr>
            <a:r>
              <a:t>SmartPay AP | AI Architect Case Study | Acme Manufacturing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0" lIns="30480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Scalability Path &amp; Future Architecture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188720"/>
          <a:ext cx="8412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003D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Current (MVP)</a:t>
                      </a:r>
                    </a:p>
                  </a:txBody>
                  <a:tcPr>
                    <a:solidFill>
                      <a:srgbClr val="003D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Phase 2 (6mo)</a:t>
                      </a:r>
                    </a:p>
                  </a:txBody>
                  <a:tcPr>
                    <a:solidFill>
                      <a:srgbClr val="003D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Phase 3 (12mo)</a:t>
                      </a:r>
                    </a:p>
                  </a:txBody>
                  <a:tcPr>
                    <a:solidFill>
                      <a:srgbClr val="003D5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300 invoices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10K/day (Polars)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100K/day (Spark)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Matching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ID-suffix (deterministic)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Fuzzy + embedding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ML ensemble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Classification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Rule-based (4 types)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ML + rules hybrid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Deep learning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Ingestion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CSV upload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Event-driven (Blob trigger)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Real-time stream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Approval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Console y/n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Web UI + Slack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Confidence auto-route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GPT-3.5 + template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GPT-4o + fine-tuned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Custom fine-tune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Observability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Structured logs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Grafana dashboards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Anomaly detection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30936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C757D"/>
                </a:solidFill>
              </a:defRPr>
            </a:pPr>
            <a:r>
              <a:t>SmartPay AP | AI Architect Case Study | Acme Manufacturing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0" lIns="30480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Summary — Architecture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500" b="1">
                <a:solidFill>
                  <a:srgbClr val="009688"/>
                </a:solidFill>
              </a:defRPr>
            </a:pPr>
            <a:r>
              <a:t>Delivered Capabilities</a:t>
            </a:r>
          </a:p>
          <a:p>
            <a:pPr lvl="1"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✓ End-to-end automated matching (&lt;1s for 300 invoices)</a:t>
            </a:r>
          </a:p>
          <a:p>
            <a:pPr lvl="1"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✓ 4-class mismatch taxonomy with confidence scoring</a:t>
            </a:r>
          </a:p>
          <a:p>
            <a:pPr lvl="1"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✓ LangGraph agentic orchestration with typed state</a:t>
            </a:r>
          </a:p>
          <a:p>
            <a:pPr lvl="1"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✓ Dual-mode email generation (LLM + template fallback)</a:t>
            </a:r>
          </a:p>
          <a:p>
            <a:pPr lvl="1"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✓ Multi-layer guardrails + human approval gate</a:t>
            </a:r>
          </a:p>
          <a:p>
            <a:pPr lvl="1"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✓ 96 unit tests covering all modules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500" b="1">
                <a:solidFill>
                  <a:srgbClr val="009688"/>
                </a:solidFill>
              </a:defRPr>
            </a:pPr>
            <a:r>
              <a:t>Guiding Principles</a:t>
            </a:r>
          </a:p>
          <a:p>
            <a:pPr lvl="1"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1. Determinism First — Rules before ML (auditable, reproducible)</a:t>
            </a:r>
          </a:p>
          <a:p>
            <a:pPr lvl="1"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2. Human-in-the-Loop — AI proposes, humans approve (EU AI Act ready)</a:t>
            </a:r>
          </a:p>
          <a:p>
            <a:pPr lvl="1"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3. Graceful Degradation — Template fallback, error isolation</a:t>
            </a:r>
          </a:p>
          <a:p>
            <a:pPr lvl="1"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4. Right-Sized Complexity — No over-engineering for current scale</a:t>
            </a:r>
          </a:p>
          <a:p>
            <a:pPr lvl="1"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5. Production-Ready Design — Guardrails, observability, DR from day one</a:t>
            </a:r>
          </a:p>
          <a:p>
            <a:pPr lvl="1"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6. Progressive Autonomy — Architecture supports reducing human load over time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500" b="1">
                <a:solidFill>
                  <a:srgbClr val="009688"/>
                </a:solidFill>
              </a:defRPr>
            </a:pPr>
            <a:r>
              <a:t>Next Step</a:t>
            </a:r>
          </a:p>
          <a:p>
            <a:pPr lvl="1"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Deploy MVP → Collect labelled data → Train ML classifier → Expand to full 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C757D"/>
                </a:solidFill>
              </a:defRPr>
            </a:pPr>
            <a:r>
              <a:t>SmartPay AP | AI Architect Case Study | Acme Manufacturing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