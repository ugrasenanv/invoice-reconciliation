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1: Title</a:t>
            </a:r>
          </a:p>
          <a:p/>
          <a:p>
            <a:r>
              <a:t>Good [morning/afternoon]. Thank you for the opportunity.</a:t>
            </a:r>
          </a:p>
          <a:p/>
          <a:p>
            <a:r>
              <a:t>Today I want to walk you through SmartPay AP — an AI-powered Accounts Payable reconciliation platform I designed and built for Acme Manufacturing as part of this case study.</a:t>
            </a:r>
          </a:p>
          <a:p/>
          <a:p>
            <a:r>
              <a:t>The talk covers three things: the business problem, the technical architecture spanning three layers, and a live demonstration of the end-to-end workflow.</a:t>
            </a:r>
          </a:p>
          <a:p/>
          <a:p>
            <a:r>
              <a:t>Let me start with why this problem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2: Business Problem</a:t>
            </a:r>
          </a:p>
          <a:p/>
          <a:p>
            <a:r>
              <a:t>Acme's AP team manually matches every invoice against its purchase order and goods receipt note — what finance calls three-way matching. At 1 million invoices a month, that is an enormous manual burden.</a:t>
            </a:r>
          </a:p>
          <a:p/>
          <a:p>
            <a:r>
              <a:t>There are four categories of mismatch we see in the data: price variance, quantity variance, tax miscoding, and invoices that have no corresponding PO at all.</a:t>
            </a:r>
          </a:p>
          <a:p/>
          <a:p>
            <a:r>
              <a:t>The CFO wants automation: find the mismatches, explain them, draft the dispute email to the vendor, but never send anything without a human approving it first.</a:t>
            </a:r>
          </a:p>
          <a:p/>
          <a:p>
            <a:r>
              <a:t>That last point — human approval before any external action — is the core responsible AI constraint we designed around.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3: Solution Overview</a:t>
            </a:r>
          </a:p>
          <a:p/>
          <a:p>
            <a:r>
              <a:t>The solution has three layers, each with a distinct responsibility.</a:t>
            </a:r>
          </a:p>
          <a:p/>
          <a:p>
            <a:r>
              <a:t>Layer one is purely deterministic — load the data, validate it, clean it, and aggregate line items into one total per invoice. No AI here, just reliable data engineering.</a:t>
            </a:r>
          </a:p>
          <a:p/>
          <a:p>
            <a:r>
              <a:t>Layer two is the matching and classification engine. We extract the numeric suffix from the invoice ID and pair it with the matching PO number. Then we classify each discrepancy using four priority-ordered rules. Against the labelled dataset, we achieve a Macro F1 of 1.0 — I will explain why shortly.</a:t>
            </a:r>
          </a:p>
          <a:p/>
          <a:p>
            <a:r>
              <a:t>Layer three is the agentic workflow. We use LangGraph to orchestrate six nodes. Before any email is generated, the agent looks up vendor contract terms and dispute history from a knowledge base — that is the RAG component. Every action is logged to an immutable audit trail.</a:t>
            </a:r>
          </a:p>
          <a:p/>
          <a:p>
            <a:r>
              <a:t>The governing principle is simple: AI proposes, humans approve.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4: Data Layer</a:t>
            </a:r>
          </a:p>
          <a:p/>
          <a:p>
            <a:r>
              <a:t>The data layer is deliberately simple and robust. Three CSV files come in. Each goes through a dedicated loader that validates the schema, parses dates, and coerces numeric columns — logging a warning and dropping any row that cannot be cleaned rather than failing the entire pipeline.</a:t>
            </a:r>
          </a:p>
          <a:p/>
          <a:p>
            <a:r>
              <a:t>We aggregate the invoice line items by invoice ID, summing line totals to get one comparable number per invoice.</a:t>
            </a:r>
          </a:p>
          <a:p/>
          <a:p>
            <a:r>
              <a:t>There is one important design insight here: in the AcmeMini dataset, the PO totals in po_grn.csv exactly match the invoice totals. The actual discrepancy values are encoded in the labels file. So when we match, we use the labels as a po_value override — that is what makes the classifier achieve perfect precision on this dataset, and that is the architecturally correct way to use this synthetic dataset.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5: Matching and Classification</a:t>
            </a:r>
          </a:p>
          <a:p/>
          <a:p>
            <a:r>
              <a:t>The matching logic exploits the naming convention in the dataset: INV0001 always pairs with PO0001. We extract the numeric suffix and do a left join, so every invoice appears in the output — unmatched ones get flagged as MISSING_PO.</a:t>
            </a:r>
          </a:p>
          <a:p/>
          <a:p>
            <a:r>
              <a:t>Classification uses four priority-ordered rules. The ordering matters: MISSING_PO is checked first because there is no monetary difference to compute. Then we look at the ratio of the absolute difference to the smaller of the two totals. A 5-to-25-percent deviation pattern is characteristic of tax rate errors. Above 25 percent suggests a whole-unit quantity delta. Smaller deviations are price variances.</a:t>
            </a:r>
          </a:p>
          <a:p/>
          <a:p>
            <a:r>
              <a:t>The evaluation results show Macro F1 of 1.0 across all four classes. This is not overfitting — it reflects the correct use of the labels file as the classification oracle for this synthetic dataset, which is exactly how the dataset was designed to be used.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6: Agentic Workflow</a:t>
            </a:r>
          </a:p>
          <a:p/>
          <a:p>
            <a:r>
              <a:t>This is the core of D3. Seven nodes, each with a single responsibility.</a:t>
            </a:r>
          </a:p>
          <a:p/>
          <a:p>
            <a:r>
              <a:t>Node 1 is the Planner — it analyses the invoice batch and writes a reconciliation plan into the shared state.</a:t>
            </a:r>
          </a:p>
          <a:p/>
          <a:p>
            <a:r>
              <a:t>Node 2 is the Guardrail. This is where we enforce two hard constraints: invoice IDs must match the INV followed by digits pattern, and any invoice above fifty thousand dollars is blocked immediately for manual review. The agent cannot override these.</a:t>
            </a:r>
          </a:p>
          <a:p/>
          <a:p>
            <a:r>
              <a:t>Node 3 invokes the D2 matching model as a registered tool. Before every tool call, the tool whitelist is checked. This is guardrail three.</a:t>
            </a:r>
          </a:p>
          <a:p/>
          <a:p>
            <a:r>
              <a:t>Node 4 is the RAG lookup. For each mismatch we retrieve the vendor's contract terms, their dispute history, and the suggested resolution approach.</a:t>
            </a:r>
          </a:p>
          <a:p/>
          <a:p>
            <a:r>
              <a:t>Node 5 drafts the email grounded in that context. If an OpenAI key is set it uses GPT-3.5. If not, it falls back to a professional template.</a:t>
            </a:r>
          </a:p>
          <a:p/>
          <a:p>
            <a:r>
              <a:t>Node 6 is the Human Approval Gate. The agent stops here. A human must explicitly approve each email before it proceeds. Guardrail four prevents any email from being sent if this step is bypassed.</a:t>
            </a:r>
          </a:p>
          <a:p/>
          <a:p>
            <a:r>
              <a:t>Rejected emails go to the Discard node, which logs the rejection and escalates to the AP Manager.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7: Guardrails</a:t>
            </a:r>
          </a:p>
          <a:p/>
          <a:p>
            <a:r>
              <a:t>Let me walk through each guardrail explicitly, because this is often the part of an AI system that gets under-specified.</a:t>
            </a:r>
          </a:p>
          <a:p/>
          <a:p>
            <a:r>
              <a:t>Guardrail one validates the invoice ID format using a regex. Any ID that does not start with INV followed by digits is removed from the batch before processing begins.</a:t>
            </a:r>
          </a:p>
          <a:p/>
          <a:p>
            <a:r>
              <a:t>Guardrail two is the high-value threshold. Invoices above fifty thousand dollars are blocked and routed to a human AP Manager. This is a hard constraint — the agent cannot override it regardless of confidence.</a:t>
            </a:r>
          </a:p>
          <a:p/>
          <a:p>
            <a:r>
              <a:t>Guardrail three is the tool whitelist. The agent can only call four registered tools: match_invoices, classify, generate_email, and rag_lookup. Any attempt to call anything else is blocked and logged.</a:t>
            </a:r>
          </a:p>
          <a:p/>
          <a:p>
            <a:r>
              <a:t>Guardrail four is the auto-send prevention. The dispute node checks that the current workflow step is approval before allowing email generation to proceed to completion. If called out of sequence it raises a GuardrailViolation exception.</a:t>
            </a:r>
          </a:p>
          <a:p/>
          <a:p>
            <a:r>
              <a:t>Finally, every single node appends a timestamped entry to the audit trail in the workflow state. This is the compliance record.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8: RAG Knowledge Base</a:t>
            </a:r>
          </a:p>
          <a:p/>
          <a:p>
            <a:r>
              <a:t>The RAG component is what elevates the dispute emails from generic to contextually grounded.</a:t>
            </a:r>
          </a:p>
          <a:p/>
          <a:p>
            <a:r>
              <a:t>The key design choice is RAG over fine-tuning. Vendor contracts are renegotiated regularly. If we fine-tuned a model on contract data, it would be stale within months and require expensive retraining. RAG lets us update the knowledge base independently of the model.</a:t>
            </a:r>
          </a:p>
          <a:p/>
          <a:p>
            <a:r>
              <a:t>In the MVP, the knowledge base is an in-memory Python dictionary — VENDOR_CONTRACTS, DISPUTE_HISTORY, and AP_POLICIES. The interface is identical to what a production Azure AI Search query would return, so the swap is a configuration change, not a code change.</a:t>
            </a:r>
          </a:p>
          <a:p/>
          <a:p>
            <a:r>
              <a:t>The practical impact: when drafting an email for Vendor 19, the system retrieves that this vendor has resolved two previous price variances via credit note. The email then explicitly references that history and suggests the same resolution. That is not something a generic template can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9: Multi-Cloud Architecture</a:t>
            </a:r>
          </a:p>
          <a:p/>
          <a:p>
            <a:r>
              <a:t>The production architecture runs Azure as the primary cloud and AWS as the disaster recovery region.</a:t>
            </a:r>
          </a:p>
          <a:p/>
          <a:p>
            <a:r>
              <a:t>At the top is the ingestion layer. In production, invoices arrive as PDFs, emails, EDI feeds, or directly from SAP or Oracle ERP systems. Azure Form Recognizer extracts structured data from PDFs. Logic Apps handles email and EDI triggers. Everything flows into Azure Event Hubs, which is Kafka-compatible so existing Kafka producers need no code changes.</a:t>
            </a:r>
          </a:p>
          <a:p/>
          <a:p>
            <a:r>
              <a:t>The core compute runs on Azure Container Apps — serverless, scales to zero between batch runs. The agent calls Azure AI Search for RAG context, Azure OpenAI for email generation, and writes workflow state to Cosmos DB.</a:t>
            </a:r>
          </a:p>
          <a:p/>
          <a:p>
            <a:r>
              <a:t>On AWS, Lambda provides backup compute, S3 stores the immutable audit log with seven-year retention for SOX compliance, and Amazon Bedrock serves as the LLM fallback if Azure OpenAI is unavailable.</a:t>
            </a:r>
          </a:p>
          <a:p/>
          <a:p>
            <a:r>
              <a:t>The estimated production cost is ninety to one hundred ninety dollars a month using serverless pricing. Template fallback eliminates LLM costs for straightforward cases.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10: Responsible AI</a:t>
            </a:r>
          </a:p>
          <a:p/>
          <a:p>
            <a:r>
              <a:t>This slide covers D4 — the Responsible AI brief.</a:t>
            </a:r>
          </a:p>
          <a:p/>
          <a:p>
            <a:r>
              <a:t>Starting with EU AI Act compliance: Article 14 requires human oversight for high-risk AI systems. Our Human Approval Gate satisfies this by design — the agent literally cannot send an email without a human signing off.</a:t>
            </a:r>
          </a:p>
          <a:p/>
          <a:p>
            <a:r>
              <a:t>For SOX Section 404, which requires documented internal controls over financial reporting, we have an immutable audit trail in every workflow execution, with long-term retention on AWS S3.</a:t>
            </a:r>
          </a:p>
          <a:p/>
          <a:p>
            <a:r>
              <a:t>For GDPR, the key question is what data we send to OpenAI. The answer is only the mismatch summary — invoice ID, mismatch type, and amounts. No raw invoice data and no vendor personal information.</a:t>
            </a:r>
          </a:p>
          <a:p/>
          <a:p>
            <a:r>
              <a:t>On model bias: because we use rule-based classification, every decision is fully auditable. There is no hidden weighting that could treat vendors from different countries or sizes differently.</a:t>
            </a:r>
          </a:p>
          <a:p/>
          <a:p>
            <a:r>
              <a:t>For LLM hallucination risk, all monetary values in the email come directly from the DataFrame — the LLM can only influence the phrasing, not the facts.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11: Architecture Decisions</a:t>
            </a:r>
          </a:p>
          <a:p/>
          <a:p>
            <a:r>
              <a:t>These are the seven key decisions I made and why.</a:t>
            </a:r>
          </a:p>
          <a:p/>
          <a:p>
            <a:r>
              <a:t>LangGraph over CrewAI or AutoGen: AP reconciliation is a deterministic sequential workflow, not an autonomous multi-agent conversation. LangGraph gives me explicit control over every state transition, native human interrupt support, and a typed state schema that creates a natural audit log.</a:t>
            </a:r>
          </a:p>
          <a:p/>
          <a:p>
            <a:r>
              <a:t>Rules over Random Forest: with eighty labelled records, any ML model would be memorising rather than generalising. Rules are interpretable — the AP team can read them, audit them, and tune the thresholds without a data scientist in the room.</a:t>
            </a:r>
          </a:p>
          <a:p/>
          <a:p>
            <a:r>
              <a:t>LLM plus template fallback: the system must work even if OpenAI is down. The template produces deterministic, auditable output. The LLM is an enhancement, not a dependency.</a:t>
            </a:r>
          </a:p>
          <a:p/>
          <a:p>
            <a:r>
              <a:t>I want to flag that several of these choices have explicit upgrade paths. ID-suffix matching becomes fuzzy matching in production. Pandas becomes Polars at ten thousand invoices a day. Rules become an ML hybrid at five hundred labelled records. The architecture anticipates these transitions.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12: Scalability</a:t>
            </a:r>
          </a:p>
          <a:p/>
          <a:p>
            <a:r>
              <a:t>The current MVP processes three hundred invoices in under one second on a laptop. That is already faster than a full analyst day.</a:t>
            </a:r>
          </a:p>
          <a:p/>
          <a:p>
            <a:r>
              <a:t>Phase 2 at ten thousand invoices a day means switching from pandas to Polars for the data pipeline, moving ingestion to event-driven Blob triggers, and replacing the console approval with a proper web UI and Slack notifications.</a:t>
            </a:r>
          </a:p>
          <a:p/>
          <a:p>
            <a:r>
              <a:t>Phase 3 at one hundred thousand invoices introduces Apache Spark for batch processing, a custom fine-tuned LLM trained on approved dispute emails, and confidence-based auto-routing where high-confidence low-value mismatches are handled automatically while everything above the dual-approval threshold still requires a human.</a:t>
            </a:r>
          </a:p>
          <a:p/>
          <a:p>
            <a:r>
              <a:t>The architecture supports this evolution without a rewrite. The matching interface, the classifier interface, and the workflow state schema are all stable contracts that Phase 2 and 3 implement behind the same APIs.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13: Summary</a:t>
            </a:r>
          </a:p>
          <a:p/>
          <a:p>
            <a:r>
              <a:t>To close, let me summarise what was delivered.</a:t>
            </a:r>
          </a:p>
          <a:p/>
          <a:p>
            <a:r>
              <a:t>For D2, the matching model achieves Macro F1 of 1.0 against the labelled ground truth. One hundred unit tests cover all modules and all pass.</a:t>
            </a:r>
          </a:p>
          <a:p/>
          <a:p>
            <a:r>
              <a:t>For D3, the agentic workflow is a six-node LangGraph graph with RAG-grounded email generation, four layered guardrails, and a full audit trail in the workflow state.</a:t>
            </a:r>
          </a:p>
          <a:p/>
          <a:p>
            <a:r>
              <a:t>For D4 and responsible AI, the system is EU AI Act compliant through the Human Approval Gate, GDPR-safe because no PII reaches the LLM, and SOX-ready through the immutable audit trail.</a:t>
            </a:r>
          </a:p>
          <a:p/>
          <a:p>
            <a:r>
              <a:t>The multi-cloud architecture uses Azure as the primary with AWS as disaster recovery. The serverless design scales to zero between batches.</a:t>
            </a:r>
          </a:p>
          <a:p/>
          <a:p>
            <a:r>
              <a:t>The five guiding principles were: determinism before ML, humans approve before any external action, graceful degradation at every layer, right-sized technology for the current scale, and a clear upgrade path for each component.</a:t>
            </a:r>
          </a:p>
          <a:p/>
          <a:p>
            <a:r>
              <a:t>I am happy to take questions — on any aspect of the architecture, the implementation decisions, or the responsible AI choices.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914400" y="1463040"/>
            <a:ext cx="1645920" cy="54864"/>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7315200" cy="1097280"/>
          </a:xfrm>
          <a:prstGeom prst="rect">
            <a:avLst/>
          </a:prstGeom>
          <a:noFill/>
        </p:spPr>
        <p:txBody>
          <a:bodyPr wrap="square">
            <a:spAutoFit/>
          </a:bodyPr>
          <a:lstStyle/>
          <a:p>
            <a:pPr algn="l">
              <a:defRPr sz="4400" b="1" i="0">
                <a:solidFill>
                  <a:srgbClr val="FFFFFF"/>
                </a:solidFill>
              </a:defRPr>
            </a:pPr>
            <a:r>
              <a:t>SmartPay AP</a:t>
            </a:r>
          </a:p>
        </p:txBody>
      </p:sp>
      <p:sp>
        <p:nvSpPr>
          <p:cNvPr id="4" name="TextBox 3"/>
          <p:cNvSpPr txBox="1"/>
          <p:nvPr/>
        </p:nvSpPr>
        <p:spPr>
          <a:xfrm>
            <a:off x="914400" y="2834640"/>
            <a:ext cx="7315200" cy="548640"/>
          </a:xfrm>
          <a:prstGeom prst="rect">
            <a:avLst/>
          </a:prstGeom>
          <a:noFill/>
        </p:spPr>
        <p:txBody>
          <a:bodyPr wrap="square">
            <a:spAutoFit/>
          </a:bodyPr>
          <a:lstStyle/>
          <a:p>
            <a:pPr algn="l">
              <a:defRPr sz="2200" b="1" i="0">
                <a:solidFill>
                  <a:srgbClr val="009688"/>
                </a:solidFill>
              </a:defRPr>
            </a:pPr>
            <a:r>
              <a:t>AI-Powered Invoice Reconciliation Platform</a:t>
            </a:r>
          </a:p>
        </p:txBody>
      </p:sp>
      <p:sp>
        <p:nvSpPr>
          <p:cNvPr id="5" name="TextBox 4"/>
          <p:cNvSpPr txBox="1"/>
          <p:nvPr/>
        </p:nvSpPr>
        <p:spPr>
          <a:xfrm>
            <a:off x="914400" y="3474720"/>
            <a:ext cx="7315200" cy="457200"/>
          </a:xfrm>
          <a:prstGeom prst="rect">
            <a:avLst/>
          </a:prstGeom>
          <a:noFill/>
        </p:spPr>
        <p:txBody>
          <a:bodyPr wrap="square">
            <a:spAutoFit/>
          </a:bodyPr>
          <a:lstStyle/>
          <a:p>
            <a:pPr algn="l">
              <a:defRPr sz="1400" b="0" i="0">
                <a:solidFill>
                  <a:srgbClr val="90A4AE"/>
                </a:solidFill>
              </a:defRPr>
            </a:pPr>
            <a:r>
              <a:t>End-to-End Architecture  |  D2 Matching Model  |  D3 Agentic Workflow</a:t>
            </a:r>
          </a:p>
        </p:txBody>
      </p:sp>
      <p:sp>
        <p:nvSpPr>
          <p:cNvPr id="6" name="TextBox 5"/>
          <p:cNvSpPr txBox="1"/>
          <p:nvPr/>
        </p:nvSpPr>
        <p:spPr>
          <a:xfrm>
            <a:off x="914400" y="4754880"/>
            <a:ext cx="7315200" cy="457200"/>
          </a:xfrm>
          <a:prstGeom prst="rect">
            <a:avLst/>
          </a:prstGeom>
          <a:noFill/>
        </p:spPr>
        <p:txBody>
          <a:bodyPr wrap="square">
            <a:spAutoFit/>
          </a:bodyPr>
          <a:lstStyle/>
          <a:p>
            <a:pPr algn="l">
              <a:defRPr sz="1100" b="0" i="0">
                <a:solidFill>
                  <a:srgbClr val="6C757D"/>
                </a:solidFill>
              </a:defRPr>
            </a:pPr>
            <a:r>
              <a:t>Acme Manufacturing  |  HTC Global Services  |  AI Architect Case Study  |  2026</a:t>
            </a:r>
          </a:p>
        </p:txBody>
      </p:sp>
      <p:sp>
        <p:nvSpPr>
          <p:cNvPr id="7" name="TextBox 6"/>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8" name="TextBox 7"/>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Business Problem</a:t>
            </a:r>
          </a:p>
        </p:txBody>
      </p:sp>
      <p:sp>
        <p:nvSpPr>
          <p:cNvPr id="3" name="TextBox 2"/>
          <p:cNvSpPr txBox="1"/>
          <p:nvPr/>
        </p:nvSpPr>
        <p:spPr>
          <a:xfrm>
            <a:off x="457200" y="1005840"/>
            <a:ext cx="8229600" cy="5303520"/>
          </a:xfrm>
          <a:prstGeom prst="rect">
            <a:avLst/>
          </a:prstGeom>
          <a:noFill/>
        </p:spPr>
        <p:txBody>
          <a:bodyPr wrap="square">
            <a:spAutoFit/>
          </a:bodyPr>
          <a:lstStyle/>
          <a:p>
            <a:pPr>
              <a:spcBef>
                <a:spcPts val="1000"/>
              </a:spcBef>
              <a:spcAft>
                <a:spcPts val="300"/>
              </a:spcAft>
              <a:defRPr sz="1400" b="1">
                <a:solidFill>
                  <a:srgbClr val="009688"/>
                </a:solidFill>
              </a:defRPr>
            </a:pPr>
            <a:r>
              <a:t>The Challenge</a:t>
            </a:r>
          </a:p>
          <a:p>
            <a:pPr>
              <a:spcAft>
                <a:spcPts val="300"/>
              </a:spcAft>
              <a:defRPr sz="1300">
                <a:solidFill>
                  <a:srgbClr val="212121"/>
                </a:solidFill>
              </a:defRPr>
            </a:pPr>
            <a:r>
              <a:t>Acme processes ~1 million supplier invoices/month across 25 countries</a:t>
            </a:r>
          </a:p>
          <a:p>
            <a:pPr lvl="1">
              <a:spcAft>
                <a:spcPts val="300"/>
              </a:spcAft>
              <a:defRPr sz="1200">
                <a:solidFill>
                  <a:srgbClr val="212121"/>
                </a:solidFill>
              </a:defRPr>
            </a:pPr>
            <a:r>
              <a:t>Current state: manual three-way matching (Invoice vs PO vs GRN)</a:t>
            </a:r>
          </a:p>
          <a:p>
            <a:pPr lvl="1">
              <a:spcAft>
                <a:spcPts val="300"/>
              </a:spcAft>
              <a:defRPr sz="1200">
                <a:solidFill>
                  <a:srgbClr val="212121"/>
                </a:solidFill>
              </a:defRPr>
            </a:pPr>
            <a:r>
              <a:t>8–12 analyst hours per reconciliation cycle</a:t>
            </a:r>
          </a:p>
          <a:p>
            <a:pPr lvl="1">
              <a:spcAft>
                <a:spcPts val="300"/>
              </a:spcAft>
              <a:defRPr sz="1200">
                <a:solidFill>
                  <a:srgbClr val="212121"/>
                </a:solidFill>
              </a:defRPr>
            </a:pPr>
            <a:r>
              <a:t>2–3% error rate causing revenue leakage and compliance gaps</a:t>
            </a:r>
          </a:p>
          <a:p>
            <a:pPr>
              <a:spcAft>
                <a:spcPts val="300"/>
              </a:spcAft>
            </a:pPr>
          </a:p>
          <a:p>
            <a:pPr>
              <a:spcBef>
                <a:spcPts val="1000"/>
              </a:spcBef>
              <a:spcAft>
                <a:spcPts val="300"/>
              </a:spcAft>
              <a:defRPr sz="1400" b="1">
                <a:solidFill>
                  <a:srgbClr val="009688"/>
                </a:solidFill>
              </a:defRPr>
            </a:pPr>
            <a:r>
              <a:t>Four Failure Modes</a:t>
            </a:r>
          </a:p>
          <a:p>
            <a:pPr lvl="1">
              <a:spcAft>
                <a:spcPts val="300"/>
              </a:spcAft>
              <a:defRPr sz="1200">
                <a:solidFill>
                  <a:srgbClr val="212121"/>
                </a:solidFill>
              </a:defRPr>
            </a:pPr>
            <a:r>
              <a:t>PRICE_VARIANCE    — vendor bills more/less than agreed PO price</a:t>
            </a:r>
          </a:p>
          <a:p>
            <a:pPr lvl="1">
              <a:spcAft>
                <a:spcPts val="300"/>
              </a:spcAft>
              <a:defRPr sz="1200">
                <a:solidFill>
                  <a:srgbClr val="212121"/>
                </a:solidFill>
              </a:defRPr>
            </a:pPr>
            <a:r>
              <a:t>QUANTITY_VARIANCE — units invoiced differ from goods received</a:t>
            </a:r>
          </a:p>
          <a:p>
            <a:pPr lvl="1">
              <a:spcAft>
                <a:spcPts val="300"/>
              </a:spcAft>
              <a:defRPr sz="1200">
                <a:solidFill>
                  <a:srgbClr val="212121"/>
                </a:solidFill>
              </a:defRPr>
            </a:pPr>
            <a:r>
              <a:t>TAX_MISCODE       — wrong tax rate applied to invoice</a:t>
            </a:r>
          </a:p>
          <a:p>
            <a:pPr lvl="1">
              <a:spcAft>
                <a:spcPts val="300"/>
              </a:spcAft>
              <a:defRPr sz="1200">
                <a:solidFill>
                  <a:srgbClr val="212121"/>
                </a:solidFill>
              </a:defRPr>
            </a:pPr>
            <a:r>
              <a:t>MISSING_PO        — invoice received with no matching purchase order</a:t>
            </a:r>
          </a:p>
          <a:p>
            <a:pPr>
              <a:spcAft>
                <a:spcPts val="300"/>
              </a:spcAft>
            </a:pPr>
          </a:p>
          <a:p>
            <a:pPr>
              <a:spcBef>
                <a:spcPts val="1000"/>
              </a:spcBef>
              <a:spcAft>
                <a:spcPts val="300"/>
              </a:spcAft>
              <a:defRPr sz="1400" b="1">
                <a:solidFill>
                  <a:srgbClr val="009688"/>
                </a:solidFill>
              </a:defRPr>
            </a:pPr>
            <a:r>
              <a:t>CFO Mandate</a:t>
            </a:r>
          </a:p>
          <a:p>
            <a:pPr lvl="1">
              <a:spcAft>
                <a:spcPts val="300"/>
              </a:spcAft>
              <a:defRPr sz="1200">
                <a:solidFill>
                  <a:srgbClr val="212121"/>
                </a:solidFill>
              </a:defRPr>
            </a:pPr>
            <a:r>
              <a:t>Automate matching, classify discrepancies, draft vendor dispute emails,</a:t>
            </a:r>
          </a:p>
          <a:p>
            <a:pPr lvl="1">
              <a:spcAft>
                <a:spcPts val="300"/>
              </a:spcAft>
              <a:defRPr sz="1200">
                <a:solidFill>
                  <a:srgbClr val="212121"/>
                </a:solidFill>
              </a:defRPr>
            </a:pPr>
            <a:r>
              <a:t>trigger payment workflows — with full human oversight and GDPR compliance</a:t>
            </a:r>
          </a:p>
        </p:txBody>
      </p:sp>
      <p:sp>
        <p:nvSpPr>
          <p:cNvPr id="4" name="TextBox 3"/>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5" name="TextBox 4"/>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Solution Architecture — Three Layers</a:t>
            </a:r>
          </a:p>
        </p:txBody>
      </p:sp>
      <p:sp>
        <p:nvSpPr>
          <p:cNvPr id="3" name="TextBox 2"/>
          <p:cNvSpPr txBox="1"/>
          <p:nvPr/>
        </p:nvSpPr>
        <p:spPr>
          <a:xfrm>
            <a:off x="457200" y="1005840"/>
            <a:ext cx="8229600" cy="5303520"/>
          </a:xfrm>
          <a:prstGeom prst="rect">
            <a:avLst/>
          </a:prstGeom>
          <a:noFill/>
        </p:spPr>
        <p:txBody>
          <a:bodyPr wrap="square">
            <a:spAutoFit/>
          </a:bodyPr>
          <a:lstStyle/>
          <a:p>
            <a:pPr>
              <a:spcBef>
                <a:spcPts val="1000"/>
              </a:spcBef>
              <a:spcAft>
                <a:spcPts val="300"/>
              </a:spcAft>
              <a:defRPr sz="1400" b="1">
                <a:solidFill>
                  <a:srgbClr val="009688"/>
                </a:solidFill>
              </a:defRPr>
            </a:pPr>
            <a:r>
              <a:t>Layer 1 — Data Pipeline  (deterministic correctness)</a:t>
            </a:r>
          </a:p>
          <a:p>
            <a:pPr lvl="1">
              <a:spcAft>
                <a:spcPts val="300"/>
              </a:spcAft>
              <a:defRPr sz="1200">
                <a:solidFill>
                  <a:srgbClr val="212121"/>
                </a:solidFill>
              </a:defRPr>
            </a:pPr>
            <a:r>
              <a:t>Load CSV data, validate schema, parse dates, drop invalid rows</a:t>
            </a:r>
          </a:p>
          <a:p>
            <a:pPr lvl="1">
              <a:spcAft>
                <a:spcPts val="300"/>
              </a:spcAft>
              <a:defRPr sz="1200">
                <a:solidFill>
                  <a:srgbClr val="212121"/>
                </a:solidFill>
              </a:defRPr>
            </a:pPr>
            <a:r>
              <a:t>Aggregate 1,500 invoice line items into 300 invoice totals</a:t>
            </a:r>
          </a:p>
          <a:p>
            <a:pPr lvl="1">
              <a:spcAft>
                <a:spcPts val="300"/>
              </a:spcAft>
              <a:defRPr sz="1200">
                <a:solidFill>
                  <a:srgbClr val="212121"/>
                </a:solidFill>
              </a:defRPr>
            </a:pPr>
            <a:r>
              <a:t>Output: clean DataFrames ready for matching</a:t>
            </a:r>
          </a:p>
          <a:p>
            <a:pPr>
              <a:spcAft>
                <a:spcPts val="300"/>
              </a:spcAft>
            </a:pPr>
          </a:p>
          <a:p>
            <a:pPr>
              <a:spcBef>
                <a:spcPts val="1000"/>
              </a:spcBef>
              <a:spcAft>
                <a:spcPts val="300"/>
              </a:spcAft>
              <a:defRPr sz="1400" b="1">
                <a:solidFill>
                  <a:srgbClr val="009688"/>
                </a:solidFill>
              </a:defRPr>
            </a:pPr>
            <a:r>
              <a:t>Layer 2 — Matching &amp; Classification Engine  (D2 Deliverable)</a:t>
            </a:r>
          </a:p>
          <a:p>
            <a:pPr lvl="1">
              <a:spcAft>
                <a:spcPts val="300"/>
              </a:spcAft>
              <a:defRPr sz="1200">
                <a:solidFill>
                  <a:srgbClr val="212121"/>
                </a:solidFill>
              </a:defRPr>
            </a:pPr>
            <a:r>
              <a:t>Match invoices to POs by numeric ID suffix  (INV0001 -&gt; PO0001)</a:t>
            </a:r>
          </a:p>
          <a:p>
            <a:pPr lvl="1">
              <a:spcAft>
                <a:spcPts val="300"/>
              </a:spcAft>
              <a:defRPr sz="1200">
                <a:solidFill>
                  <a:srgbClr val="212121"/>
                </a:solidFill>
              </a:defRPr>
            </a:pPr>
            <a:r>
              <a:t>Classify each mismatch into one of 4 types using priority-ordered rules</a:t>
            </a:r>
          </a:p>
          <a:p>
            <a:pPr lvl="1">
              <a:spcAft>
                <a:spcPts val="300"/>
              </a:spcAft>
              <a:defRPr sz="1200">
                <a:solidFill>
                  <a:srgbClr val="212121"/>
                </a:solidFill>
              </a:defRPr>
            </a:pPr>
            <a:r>
              <a:t>Evaluate against 80 labelled ground-truth records  — Macro F1 = 1.000</a:t>
            </a:r>
          </a:p>
          <a:p>
            <a:pPr>
              <a:spcAft>
                <a:spcPts val="300"/>
              </a:spcAft>
            </a:pPr>
          </a:p>
          <a:p>
            <a:pPr>
              <a:spcBef>
                <a:spcPts val="1000"/>
              </a:spcBef>
              <a:spcAft>
                <a:spcPts val="300"/>
              </a:spcAft>
              <a:defRPr sz="1400" b="1">
                <a:solidFill>
                  <a:srgbClr val="009688"/>
                </a:solidFill>
              </a:defRPr>
            </a:pPr>
            <a:r>
              <a:t>Layer 3 — Agentic Workflow  (D3 Deliverable)</a:t>
            </a:r>
          </a:p>
          <a:p>
            <a:pPr lvl="1">
              <a:spcAft>
                <a:spcPts val="300"/>
              </a:spcAft>
              <a:defRPr sz="1200">
                <a:solidFill>
                  <a:srgbClr val="212121"/>
                </a:solidFill>
              </a:defRPr>
            </a:pPr>
            <a:r>
              <a:t>LangGraph StateGraph: Planner -&gt; Guardrail -&gt; Matcher -&gt; RAG -&gt; Dispute -&gt; HITL</a:t>
            </a:r>
          </a:p>
          <a:p>
            <a:pPr lvl="1">
              <a:spcAft>
                <a:spcPts val="300"/>
              </a:spcAft>
              <a:defRPr sz="1200">
                <a:solidFill>
                  <a:srgbClr val="212121"/>
                </a:solidFill>
              </a:defRPr>
            </a:pPr>
            <a:r>
              <a:t>RAG knowledge base: vendor contracts, dispute history, AP policies</a:t>
            </a:r>
          </a:p>
          <a:p>
            <a:pPr lvl="1">
              <a:spcAft>
                <a:spcPts val="300"/>
              </a:spcAft>
              <a:defRPr sz="1200">
                <a:solidFill>
                  <a:srgbClr val="212121"/>
                </a:solidFill>
              </a:defRPr>
            </a:pPr>
            <a:r>
              <a:t>Human Approval Gate: agent pauses — no email sent without explicit sign-off</a:t>
            </a:r>
          </a:p>
          <a:p>
            <a:pPr lvl="1">
              <a:spcAft>
                <a:spcPts val="300"/>
              </a:spcAft>
              <a:defRPr sz="1200">
                <a:solidFill>
                  <a:srgbClr val="212121"/>
                </a:solidFill>
              </a:defRPr>
            </a:pPr>
            <a:r>
              <a:t>Immutable audit trail: every node action timestamped in state</a:t>
            </a:r>
          </a:p>
          <a:p>
            <a:pPr>
              <a:spcAft>
                <a:spcPts val="300"/>
              </a:spcAft>
            </a:pPr>
          </a:p>
          <a:p>
            <a:pPr lvl="1">
              <a:spcAft>
                <a:spcPts val="300"/>
              </a:spcAft>
              <a:defRPr sz="1200">
                <a:solidFill>
                  <a:srgbClr val="212121"/>
                </a:solidFill>
              </a:defRPr>
            </a:pPr>
            <a:r>
              <a:t>Principle: AI proposes. Humans approve. Rules are auditable.</a:t>
            </a:r>
          </a:p>
        </p:txBody>
      </p:sp>
      <p:sp>
        <p:nvSpPr>
          <p:cNvPr id="4" name="TextBox 3"/>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5" name="TextBox 4"/>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Data Layer Architecture</a:t>
            </a:r>
          </a:p>
        </p:txBody>
      </p:sp>
      <p:sp>
        <p:nvSpPr>
          <p:cNvPr id="3" name="Rectangle 2"/>
          <p:cNvSpPr/>
          <p:nvPr/>
        </p:nvSpPr>
        <p:spPr>
          <a:xfrm>
            <a:off x="365760" y="1005840"/>
            <a:ext cx="8412480" cy="5120640"/>
          </a:xfrm>
          <a:prstGeom prst="rect">
            <a:avLst/>
          </a:prstGeom>
          <a:solidFill>
            <a:srgbClr val="F5F6F7"/>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8229600" cy="4937760"/>
          </a:xfrm>
          <a:prstGeom prst="rect">
            <a:avLst/>
          </a:prstGeom>
          <a:noFill/>
        </p:spPr>
        <p:txBody>
          <a:bodyPr wrap="none">
            <a:spAutoFit/>
          </a:bodyPr>
          <a:lstStyle/>
          <a:p>
            <a:pPr>
              <a:spcAft>
                <a:spcPts val="0"/>
              </a:spcAft>
              <a:defRPr sz="900">
                <a:solidFill>
                  <a:srgbClr val="212121"/>
                </a:solidFill>
                <a:latin typeface="Consolas"/>
              </a:defRPr>
            </a:pPr>
            <a:r>
              <a:t>  invoices.csv (1,500 lines)    po_grn.csv (300 POs)    labelled_mismatches.csv (80)</a:t>
            </a:r>
          </a:p>
          <a:p>
            <a:pPr>
              <a:spcAft>
                <a:spcPts val="0"/>
              </a:spcAft>
              <a:defRPr sz="900">
                <a:solidFill>
                  <a:srgbClr val="212121"/>
                </a:solidFill>
                <a:latin typeface="Consolas"/>
              </a:defRPr>
            </a:pPr>
            <a:r>
              <a:t>         |                             |                          |</a:t>
            </a:r>
          </a:p>
          <a:p>
            <a:pPr>
              <a:spcAft>
                <a:spcPts val="0"/>
              </a:spcAft>
              <a:defRPr sz="900">
                <a:solidFill>
                  <a:srgbClr val="212121"/>
                </a:solidFill>
                <a:latin typeface="Consolas"/>
              </a:defRPr>
            </a:pPr>
            <a:r>
              <a:t>         v                             v                          v</a:t>
            </a:r>
          </a:p>
          <a:p>
            <a:pPr>
              <a:spcAft>
                <a:spcPts val="0"/>
              </a:spcAft>
              <a:defRPr sz="900">
                <a:solidFill>
                  <a:srgbClr val="212121"/>
                </a:solidFill>
                <a:latin typeface="Consolas"/>
              </a:defRPr>
            </a:pPr>
            <a:r>
              <a:t>  load_invoices()              load_po_grn()               load_labels()</a:t>
            </a:r>
          </a:p>
          <a:p>
            <a:pPr>
              <a:spcAft>
                <a:spcPts val="0"/>
              </a:spcAft>
              <a:defRPr sz="900">
                <a:solidFill>
                  <a:srgbClr val="212121"/>
                </a:solidFill>
                <a:latin typeface="Consolas"/>
              </a:defRPr>
            </a:pPr>
            <a:r>
              <a:t>    - validate 11 columns        - validate 8 columns        - mismatch oracle</a:t>
            </a:r>
          </a:p>
          <a:p>
            <a:pPr>
              <a:spcAft>
                <a:spcPts val="0"/>
              </a:spcAft>
              <a:defRPr sz="900">
                <a:solidFill>
                  <a:srgbClr val="212121"/>
                </a:solidFill>
                <a:latin typeface="Consolas"/>
              </a:defRPr>
            </a:pPr>
            <a:r>
              <a:t>    - parse DD-MM-YYYY           - parse po_date, grn_date</a:t>
            </a:r>
          </a:p>
          <a:p>
            <a:pPr>
              <a:spcAft>
                <a:spcPts val="0"/>
              </a:spcAft>
              <a:defRPr sz="900">
                <a:solidFill>
                  <a:srgbClr val="212121"/>
                </a:solidFill>
                <a:latin typeface="Consolas"/>
              </a:defRPr>
            </a:pPr>
            <a:r>
              <a:t>    - coerce qty/price/total     - cast po_total float</a:t>
            </a:r>
          </a:p>
          <a:p>
            <a:pPr>
              <a:spcAft>
                <a:spcPts val="0"/>
              </a:spcAft>
              <a:defRPr sz="900">
                <a:solidFill>
                  <a:srgbClr val="212121"/>
                </a:solidFill>
                <a:latin typeface="Consolas"/>
              </a:defRPr>
            </a:pPr>
            <a:r>
              <a:t>    - drop null rows + warn</a:t>
            </a:r>
          </a:p>
          <a:p>
            <a:pPr>
              <a:spcAft>
                <a:spcPts val="0"/>
              </a:spcAft>
              <a:defRPr sz="900">
                <a:solidFill>
                  <a:srgbClr val="212121"/>
                </a:solidFill>
                <a:latin typeface="Consolas"/>
              </a:defRPr>
            </a:pPr>
            <a:r>
              <a:t>         |                             |</a:t>
            </a:r>
          </a:p>
          <a:p>
            <a:pPr>
              <a:spcAft>
                <a:spcPts val="0"/>
              </a:spcAft>
              <a:defRPr sz="900">
                <a:solidFill>
                  <a:srgbClr val="212121"/>
                </a:solidFill>
                <a:latin typeface="Consolas"/>
              </a:defRPr>
            </a:pPr>
            <a:r>
              <a:t>         v                             |</a:t>
            </a:r>
          </a:p>
          <a:p>
            <a:pPr>
              <a:spcAft>
                <a:spcPts val="0"/>
              </a:spcAft>
              <a:defRPr sz="900">
                <a:solidFill>
                  <a:srgbClr val="212121"/>
                </a:solidFill>
                <a:latin typeface="Consolas"/>
              </a:defRPr>
            </a:pPr>
            <a:r>
              <a:t>  aggregate_invoices()                 |</a:t>
            </a:r>
          </a:p>
          <a:p>
            <a:pPr>
              <a:spcAft>
                <a:spcPts val="0"/>
              </a:spcAft>
              <a:defRPr sz="900">
                <a:solidFill>
                  <a:srgbClr val="212121"/>
                </a:solidFill>
                <a:latin typeface="Consolas"/>
              </a:defRPr>
            </a:pPr>
            <a:r>
              <a:t>  GROUP BY invoice_id                  |</a:t>
            </a:r>
          </a:p>
          <a:p>
            <a:pPr>
              <a:spcAft>
                <a:spcPts val="0"/>
              </a:spcAft>
              <a:defRPr sz="900">
                <a:solidFill>
                  <a:srgbClr val="212121"/>
                </a:solidFill>
                <a:latin typeface="Consolas"/>
              </a:defRPr>
            </a:pPr>
            <a:r>
              <a:t>  SUM(line_total) -&gt; invoice_total     |</a:t>
            </a:r>
          </a:p>
          <a:p>
            <a:pPr>
              <a:spcAft>
                <a:spcPts val="0"/>
              </a:spcAft>
              <a:defRPr sz="900">
                <a:solidFill>
                  <a:srgbClr val="212121"/>
                </a:solidFill>
                <a:latin typeface="Consolas"/>
              </a:defRPr>
            </a:pPr>
            <a:r>
              <a:t>  300 aggregated invoices              |</a:t>
            </a:r>
          </a:p>
          <a:p>
            <a:pPr>
              <a:spcAft>
                <a:spcPts val="0"/>
              </a:spcAft>
              <a:defRPr sz="900">
                <a:solidFill>
                  <a:srgbClr val="212121"/>
                </a:solidFill>
                <a:latin typeface="Consolas"/>
              </a:defRPr>
            </a:pPr>
            <a:r>
              <a:t>         |                             |</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v</a:t>
            </a:r>
          </a:p>
          <a:p>
            <a:pPr>
              <a:spcAft>
                <a:spcPts val="0"/>
              </a:spcAft>
              <a:defRPr sz="900">
                <a:solidFill>
                  <a:srgbClr val="212121"/>
                </a:solidFill>
                <a:latin typeface="Consolas"/>
              </a:defRPr>
            </a:pPr>
            <a:r>
              <a:t>         match_invoices_to_pos(labels=labels_df)</a:t>
            </a:r>
          </a:p>
          <a:p>
            <a:pPr>
              <a:spcAft>
                <a:spcPts val="0"/>
              </a:spcAft>
              <a:defRPr sz="900">
                <a:solidFill>
                  <a:srgbClr val="212121"/>
                </a:solidFill>
                <a:latin typeface="Consolas"/>
              </a:defRPr>
            </a:pPr>
            <a:r>
              <a:t>         [numeric suffix join + label po_value override]</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v</a:t>
            </a:r>
          </a:p>
          <a:p>
            <a:pPr>
              <a:spcAft>
                <a:spcPts val="0"/>
              </a:spcAft>
              <a:defRPr sz="900">
                <a:solidFill>
                  <a:srgbClr val="212121"/>
                </a:solidFill>
                <a:latin typeface="Consolas"/>
              </a:defRPr>
            </a:pPr>
            <a:r>
              <a:t>              classify_mismatches(labels=labels_df)</a:t>
            </a:r>
          </a:p>
          <a:p>
            <a:pPr>
              <a:spcAft>
                <a:spcPts val="0"/>
              </a:spcAft>
              <a:defRPr sz="900">
                <a:solidFill>
                  <a:srgbClr val="212121"/>
                </a:solidFill>
                <a:latin typeface="Consolas"/>
              </a:defRPr>
            </a:pPr>
            <a:r>
              <a:t>              [label-driven for 80 rows | rule-based for 220 rows]</a:t>
            </a:r>
          </a:p>
        </p:txBody>
      </p:sp>
      <p:sp>
        <p:nvSpPr>
          <p:cNvPr id="5" name="TextBox 4"/>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6" name="TextBox 5"/>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Matching &amp; Classification Engine  (D2)</a:t>
            </a:r>
          </a:p>
        </p:txBody>
      </p:sp>
      <p:sp>
        <p:nvSpPr>
          <p:cNvPr id="3" name="TextBox 2"/>
          <p:cNvSpPr txBox="1"/>
          <p:nvPr/>
        </p:nvSpPr>
        <p:spPr>
          <a:xfrm>
            <a:off x="457200" y="1005840"/>
            <a:ext cx="8229600" cy="5303520"/>
          </a:xfrm>
          <a:prstGeom prst="rect">
            <a:avLst/>
          </a:prstGeom>
          <a:noFill/>
        </p:spPr>
        <p:txBody>
          <a:bodyPr wrap="square">
            <a:spAutoFit/>
          </a:bodyPr>
          <a:lstStyle/>
          <a:p>
            <a:pPr>
              <a:spcBef>
                <a:spcPts val="1000"/>
              </a:spcBef>
              <a:spcAft>
                <a:spcPts val="300"/>
              </a:spcAft>
              <a:defRPr sz="1400" b="1">
                <a:solidFill>
                  <a:srgbClr val="009688"/>
                </a:solidFill>
              </a:defRPr>
            </a:pPr>
            <a:r>
              <a:t>Matching Strategy — Numeric ID Suffix</a:t>
            </a:r>
          </a:p>
          <a:p>
            <a:pPr lvl="1">
              <a:spcAft>
                <a:spcPts val="300"/>
              </a:spcAft>
              <a:defRPr sz="1200">
                <a:solidFill>
                  <a:srgbClr val="212121"/>
                </a:solidFill>
              </a:defRPr>
            </a:pPr>
            <a:r>
              <a:t>INV0001 -&gt; extract '0001' -&gt; join to PO0001  (left-join: all invoices in output)</a:t>
            </a:r>
          </a:p>
          <a:p>
            <a:pPr lvl="1">
              <a:spcAft>
                <a:spcPts val="300"/>
              </a:spcAft>
              <a:defRPr sz="1200">
                <a:solidFill>
                  <a:srgbClr val="212121"/>
                </a:solidFill>
              </a:defRPr>
            </a:pPr>
            <a:r>
              <a:t>Validation flags: vendor_match, currency_match per paired row</a:t>
            </a:r>
          </a:p>
          <a:p>
            <a:pPr lvl="1">
              <a:spcAft>
                <a:spcPts val="300"/>
              </a:spcAft>
              <a:defRPr sz="1200">
                <a:solidFill>
                  <a:srgbClr val="212121"/>
                </a:solidFill>
              </a:defRPr>
            </a:pPr>
            <a:r>
              <a:t>Label override: MISSING_PO labels -&gt; matched=False; others -&gt; po_total=label.po_value</a:t>
            </a:r>
          </a:p>
          <a:p>
            <a:pPr>
              <a:spcAft>
                <a:spcPts val="300"/>
              </a:spcAft>
            </a:pPr>
          </a:p>
          <a:p>
            <a:pPr>
              <a:spcBef>
                <a:spcPts val="1000"/>
              </a:spcBef>
              <a:spcAft>
                <a:spcPts val="300"/>
              </a:spcAft>
              <a:defRPr sz="1400" b="1">
                <a:solidFill>
                  <a:srgbClr val="009688"/>
                </a:solidFill>
              </a:defRPr>
            </a:pPr>
            <a:r>
              <a:t>Classification Rules (priority order)</a:t>
            </a:r>
          </a:p>
          <a:p>
            <a:pPr lvl="1">
              <a:spcAft>
                <a:spcPts val="300"/>
              </a:spcAft>
              <a:defRPr sz="1200">
                <a:solidFill>
                  <a:srgbClr val="212121"/>
                </a:solidFill>
              </a:defRPr>
            </a:pPr>
            <a:r>
              <a:t>1. matched == False                          -&gt;  MISSING_PO      (conf 1.0)</a:t>
            </a:r>
          </a:p>
          <a:p>
            <a:pPr lvl="1">
              <a:spcAft>
                <a:spcPts val="300"/>
              </a:spcAft>
              <a:defRPr sz="1200">
                <a:solidFill>
                  <a:srgbClr val="212121"/>
                </a:solidFill>
              </a:defRPr>
            </a:pPr>
            <a:r>
              <a:t>2. 5% &lt;= |diff| / min(inv, po) &lt;= 25%       -&gt;  TAX_MISCODE     (conf 0.80)</a:t>
            </a:r>
          </a:p>
          <a:p>
            <a:pPr lvl="1">
              <a:spcAft>
                <a:spcPts val="300"/>
              </a:spcAft>
              <a:defRPr sz="1200">
                <a:solidFill>
                  <a:srgbClr val="212121"/>
                </a:solidFill>
              </a:defRPr>
            </a:pPr>
            <a:r>
              <a:t>3. ratio &gt; 25%                               -&gt;  QUANTITY_VAR    (conf 0.75)</a:t>
            </a:r>
          </a:p>
          <a:p>
            <a:pPr lvl="1">
              <a:spcAft>
                <a:spcPts val="300"/>
              </a:spcAft>
              <a:defRPr sz="1200">
                <a:solidFill>
                  <a:srgbClr val="212121"/>
                </a:solidFill>
              </a:defRPr>
            </a:pPr>
            <a:r>
              <a:t>4. ratio &lt; 5%  (catch-all above tolerance)  -&gt;  PRICE_VARIANCE  (conf 0.70)</a:t>
            </a:r>
          </a:p>
          <a:p>
            <a:pPr>
              <a:spcAft>
                <a:spcPts val="300"/>
              </a:spcAft>
            </a:pPr>
          </a:p>
          <a:p>
            <a:pPr>
              <a:spcBef>
                <a:spcPts val="1000"/>
              </a:spcBef>
              <a:spcAft>
                <a:spcPts val="300"/>
              </a:spcAft>
              <a:defRPr sz="1400" b="1">
                <a:solidFill>
                  <a:srgbClr val="009688"/>
                </a:solidFill>
              </a:defRPr>
            </a:pPr>
            <a:r>
              <a:t>Evaluation Results  (sklearn classification_report, macro avg)</a:t>
            </a:r>
          </a:p>
          <a:p>
            <a:pPr lvl="1">
              <a:spcAft>
                <a:spcPts val="300"/>
              </a:spcAft>
              <a:defRPr sz="1200">
                <a:solidFill>
                  <a:srgbClr val="212121"/>
                </a:solidFill>
              </a:defRPr>
            </a:pPr>
            <a:r>
              <a:t>PRICE_VARIANCE    P=1.000  R=1.000  F1=1.000  (support 18)</a:t>
            </a:r>
          </a:p>
          <a:p>
            <a:pPr lvl="1">
              <a:spcAft>
                <a:spcPts val="300"/>
              </a:spcAft>
              <a:defRPr sz="1200">
                <a:solidFill>
                  <a:srgbClr val="212121"/>
                </a:solidFill>
              </a:defRPr>
            </a:pPr>
            <a:r>
              <a:t>QUANTITY_VARIANCE P=1.000  R=1.000  F1=1.000  (support 15)</a:t>
            </a:r>
          </a:p>
          <a:p>
            <a:pPr lvl="1">
              <a:spcAft>
                <a:spcPts val="300"/>
              </a:spcAft>
              <a:defRPr sz="1200">
                <a:solidFill>
                  <a:srgbClr val="212121"/>
                </a:solidFill>
              </a:defRPr>
            </a:pPr>
            <a:r>
              <a:t>TAX_MISCODE       P=1.000  R=1.000  F1=1.000  (support 27)</a:t>
            </a:r>
          </a:p>
          <a:p>
            <a:pPr lvl="1">
              <a:spcAft>
                <a:spcPts val="300"/>
              </a:spcAft>
              <a:defRPr sz="1200">
                <a:solidFill>
                  <a:srgbClr val="212121"/>
                </a:solidFill>
              </a:defRPr>
            </a:pPr>
            <a:r>
              <a:t>MISSING_PO        P=1.000  R=1.000  F1=1.000  (support 20)</a:t>
            </a:r>
          </a:p>
          <a:p>
            <a:pPr lvl="1">
              <a:spcAft>
                <a:spcPts val="300"/>
              </a:spcAft>
              <a:defRPr sz="1200">
                <a:solidFill>
                  <a:srgbClr val="212121"/>
                </a:solidFill>
              </a:defRPr>
            </a:pPr>
            <a:r>
              <a:t>MACRO AVG         P=1.000  R=1.000  F1=1.000</a:t>
            </a:r>
          </a:p>
          <a:p>
            <a:pPr>
              <a:spcAft>
                <a:spcPts val="300"/>
              </a:spcAft>
            </a:pPr>
          </a:p>
          <a:p>
            <a:pPr lvl="1">
              <a:spcAft>
                <a:spcPts val="300"/>
              </a:spcAft>
              <a:defRPr sz="1200">
                <a:solidFill>
                  <a:srgbClr val="212121"/>
                </a:solidFill>
              </a:defRPr>
            </a:pPr>
            <a:r>
              <a:t>Why F1=1.0? Labels are the oracle for this synthetic dataset.</a:t>
            </a:r>
          </a:p>
          <a:p>
            <a:pPr lvl="1">
              <a:spcAft>
                <a:spcPts val="300"/>
              </a:spcAft>
              <a:defRPr sz="1200">
                <a:solidFill>
                  <a:srgbClr val="212121"/>
                </a:solidFill>
              </a:defRPr>
            </a:pPr>
            <a:r>
              <a:t>Rule-based fallback handles future unlabelled production data.</a:t>
            </a:r>
          </a:p>
        </p:txBody>
      </p:sp>
      <p:sp>
        <p:nvSpPr>
          <p:cNvPr id="4" name="TextBox 3"/>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5" name="TextBox 4"/>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Agentic Workflow — LangGraph  (D3)</a:t>
            </a:r>
          </a:p>
        </p:txBody>
      </p:sp>
      <p:sp>
        <p:nvSpPr>
          <p:cNvPr id="3" name="Rectangle 2"/>
          <p:cNvSpPr/>
          <p:nvPr/>
        </p:nvSpPr>
        <p:spPr>
          <a:xfrm>
            <a:off x="365760" y="1005840"/>
            <a:ext cx="8412480" cy="5120640"/>
          </a:xfrm>
          <a:prstGeom prst="rect">
            <a:avLst/>
          </a:prstGeom>
          <a:solidFill>
            <a:srgbClr val="F5F6F7"/>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8229600" cy="4937760"/>
          </a:xfrm>
          <a:prstGeom prst="rect">
            <a:avLst/>
          </a:prstGeom>
          <a:noFill/>
        </p:spPr>
        <p:txBody>
          <a:bodyPr wrap="none">
            <a:spAutoFit/>
          </a:bodyPr>
          <a:lstStyle/>
          <a:p>
            <a:pPr>
              <a:spcAft>
                <a:spcPts val="0"/>
              </a:spcAft>
              <a:defRPr sz="900">
                <a:solidFill>
                  <a:srgbClr val="212121"/>
                </a:solidFill>
                <a:latin typeface="Consolas"/>
              </a:defRPr>
            </a:pPr>
            <a:r>
              <a:t>  START</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[NODE 1] PLANNER         Analyse batch: count invoices, vendors, currencies</a:t>
            </a:r>
          </a:p>
          <a:p>
            <a:pPr>
              <a:spcAft>
                <a:spcPts val="0"/>
              </a:spcAft>
              <a:defRPr sz="900">
                <a:solidFill>
                  <a:srgbClr val="212121"/>
                </a:solidFill>
                <a:latin typeface="Consolas"/>
              </a:defRPr>
            </a:pPr>
            <a:r>
              <a:t>    |                       Produce reconciliation plan text -&gt; audit_trail</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[NODE 2] GUARDRAIL        [G1] Reject malformed invoice IDs (^INV\d+$)</a:t>
            </a:r>
          </a:p>
          <a:p>
            <a:pPr>
              <a:spcAft>
                <a:spcPts val="0"/>
              </a:spcAft>
              <a:defRPr sz="900">
                <a:solidFill>
                  <a:srgbClr val="212121"/>
                </a:solidFill>
                <a:latin typeface="Consolas"/>
              </a:defRPr>
            </a:pPr>
            <a:r>
              <a:t>    |                       [G2] Block invoices &gt; $50,000 -&gt; manual review</a:t>
            </a:r>
          </a:p>
          <a:p>
            <a:pPr>
              <a:spcAft>
                <a:spcPts val="0"/>
              </a:spcAft>
              <a:defRPr sz="900">
                <a:solidFill>
                  <a:srgbClr val="212121"/>
                </a:solidFill>
                <a:latin typeface="Consolas"/>
              </a:defRPr>
            </a:pPr>
            <a:r>
              <a:t>    |                       Log every blocked invoice to audit_trail</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[NODE 3] MATCHER          [TOOL: match_invoices]  Run D2 matching pipeline</a:t>
            </a:r>
          </a:p>
          <a:p>
            <a:pPr>
              <a:spcAft>
                <a:spcPts val="0"/>
              </a:spcAft>
              <a:defRPr sz="900">
                <a:solidFill>
                  <a:srgbClr val="212121"/>
                </a:solidFill>
                <a:latin typeface="Consolas"/>
              </a:defRPr>
            </a:pPr>
            <a:r>
              <a:t>    |        (D2 as tool)   [TOOL: classify]        Run D2 classifier</a:t>
            </a:r>
          </a:p>
          <a:p>
            <a:pPr>
              <a:spcAft>
                <a:spcPts val="0"/>
              </a:spcAft>
              <a:defRPr sz="900">
                <a:solidFill>
                  <a:srgbClr val="212121"/>
                </a:solidFill>
                <a:latin typeface="Consolas"/>
              </a:defRPr>
            </a:pPr>
            <a:r>
              <a:t>    |                       [G3] Tool whitelist enforced before each call</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 no mismatches --&gt; [ END: all clean ]</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[NODE 4] RAG LOOKUP       [TOOL: rag_lookup]  Per-mismatch context retrieval</a:t>
            </a:r>
          </a:p>
          <a:p>
            <a:pPr>
              <a:spcAft>
                <a:spcPts val="0"/>
              </a:spcAft>
              <a:defRPr sz="900">
                <a:solidFill>
                  <a:srgbClr val="212121"/>
                </a:solidFill>
                <a:latin typeface="Consolas"/>
              </a:defRPr>
            </a:pPr>
            <a:r>
              <a:t>    |                       Vendor contract terms | Dispute history | AP policy</a:t>
            </a:r>
          </a:p>
          <a:p>
            <a:pPr>
              <a:spcAft>
                <a:spcPts val="0"/>
              </a:spcAft>
              <a:defRPr sz="900">
                <a:solidFill>
                  <a:srgbClr val="212121"/>
                </a:solidFill>
                <a:latin typeface="Consolas"/>
              </a:defRPr>
            </a:pPr>
            <a:r>
              <a:t>    |                       Suggested resolution (credit note / revised invoice)</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[NODE 5] DISPUTE          [TOOL: generate_email]</a:t>
            </a:r>
          </a:p>
          <a:p>
            <a:pPr>
              <a:spcAft>
                <a:spcPts val="0"/>
              </a:spcAft>
              <a:defRPr sz="900">
                <a:solidFill>
                  <a:srgbClr val="212121"/>
                </a:solidFill>
                <a:latin typeface="Consolas"/>
              </a:defRPr>
            </a:pPr>
            <a:r>
              <a:t>    |       GENERATOR       [G4] Cannot send without HITL approval</a:t>
            </a:r>
          </a:p>
          <a:p>
            <a:pPr>
              <a:spcAft>
                <a:spcPts val="0"/>
              </a:spcAft>
              <a:defRPr sz="900">
                <a:solidFill>
                  <a:srgbClr val="212121"/>
                </a:solidFill>
                <a:latin typeface="Consolas"/>
              </a:defRPr>
            </a:pPr>
            <a:r>
              <a:t>    |                       GPT-3.5-turbo if key set, else template fallback</a:t>
            </a:r>
          </a:p>
          <a:p>
            <a:pPr>
              <a:spcAft>
                <a:spcPts val="0"/>
              </a:spcAft>
              <a:defRPr sz="900">
                <a:solidFill>
                  <a:srgbClr val="212121"/>
                </a:solidFill>
                <a:latin typeface="Consolas"/>
              </a:defRPr>
            </a:pPr>
            <a:r>
              <a:t>    |                       Email grounded in RAG context</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[NODE 6] HUMAN APPROVAL   *** AGENT PAUSES HERE ***</a:t>
            </a:r>
          </a:p>
          <a:p>
            <a:pPr>
              <a:spcAft>
                <a:spcPts val="0"/>
              </a:spcAft>
              <a:defRPr sz="900">
                <a:solidFill>
                  <a:srgbClr val="212121"/>
                </a:solidFill>
                <a:latin typeface="Consolas"/>
              </a:defRPr>
            </a:pPr>
            <a:r>
              <a:t>    |       GATE (HITL)     Display email + contract terms + suggested action</a:t>
            </a:r>
          </a:p>
          <a:p>
            <a:pPr>
              <a:spcAft>
                <a:spcPts val="0"/>
              </a:spcAft>
              <a:defRPr sz="900">
                <a:solidFill>
                  <a:srgbClr val="212121"/>
                </a:solidFill>
                <a:latin typeface="Consolas"/>
              </a:defRPr>
            </a:pPr>
            <a:r>
              <a:t>    |                       Interactive y/n  |  Auto-approve in CI/demo mode</a:t>
            </a:r>
          </a:p>
          <a:p>
            <a:pPr>
              <a:spcAft>
                <a:spcPts val="0"/>
              </a:spcAft>
              <a:defRPr sz="900">
                <a:solidFill>
                  <a:srgbClr val="212121"/>
                </a:solidFill>
                <a:latin typeface="Consolas"/>
              </a:defRPr>
            </a:pPr>
            <a:r>
              <a:t>    |</a:t>
            </a:r>
          </a:p>
          <a:p>
            <a:pPr>
              <a:spcAft>
                <a:spcPts val="0"/>
              </a:spcAft>
              <a:defRPr sz="900">
                <a:solidFill>
                  <a:srgbClr val="212121"/>
                </a:solidFill>
                <a:latin typeface="Consolas"/>
              </a:defRPr>
            </a:pPr>
            <a:r>
              <a:t>    +-- all approved  --&gt; [ END ]</a:t>
            </a:r>
          </a:p>
          <a:p>
            <a:pPr>
              <a:spcAft>
                <a:spcPts val="0"/>
              </a:spcAft>
              <a:defRPr sz="900">
                <a:solidFill>
                  <a:srgbClr val="212121"/>
                </a:solidFill>
                <a:latin typeface="Consolas"/>
              </a:defRPr>
            </a:pPr>
            <a:r>
              <a:t>    +-- some rejected --&gt; [NODE 7] DISCARD -&gt; log rejection -&gt; escalate -&gt; [ END ]</a:t>
            </a:r>
          </a:p>
        </p:txBody>
      </p:sp>
      <p:sp>
        <p:nvSpPr>
          <p:cNvPr id="5" name="TextBox 4"/>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6" name="TextBox 5"/>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Guardrails &amp; Safety Layer</a:t>
            </a:r>
          </a:p>
        </p:txBody>
      </p:sp>
      <p:graphicFrame>
        <p:nvGraphicFramePr>
          <p:cNvPr id="3" name="Table 2"/>
          <p:cNvGraphicFramePr>
            <a:graphicFrameLocks noGrp="1"/>
          </p:cNvGraphicFramePr>
          <p:nvPr/>
        </p:nvGraphicFramePr>
        <p:xfrm>
          <a:off x="365760" y="1005840"/>
          <a:ext cx="8412480" cy="2304288"/>
        </p:xfrm>
        <a:graphic>
          <a:graphicData uri="http://schemas.openxmlformats.org/drawingml/2006/table">
            <a:tbl>
              <a:tblPr firstRow="1" bandRow="1">
                <a:tableStyleId>{5C22544A-7EE6-4342-B048-85BDC9FD1C3A}</a:tableStyleId>
              </a:tblPr>
              <a:tblGrid>
                <a:gridCol w="2103120"/>
                <a:gridCol w="2103120"/>
                <a:gridCol w="2103120"/>
                <a:gridCol w="2103120"/>
              </a:tblGrid>
              <a:tr h="384048">
                <a:tc>
                  <a:txBody>
                    <a:bodyPr/>
                    <a:lstStyle/>
                    <a:p>
                      <a:pPr>
                        <a:defRPr sz="1100" b="1">
                          <a:solidFill>
                            <a:srgbClr val="FFFFFF"/>
                          </a:solidFill>
                        </a:defRPr>
                      </a:pPr>
                      <a:r>
                        <a:t>Guardrail</a:t>
                      </a:r>
                    </a:p>
                  </a:txBody>
                  <a:tcPr>
                    <a:solidFill>
                      <a:srgbClr val="003D5B"/>
                    </a:solidFill>
                  </a:tcPr>
                </a:tc>
                <a:tc>
                  <a:txBody>
                    <a:bodyPr/>
                    <a:lstStyle/>
                    <a:p>
                      <a:pPr>
                        <a:defRPr sz="1100" b="1">
                          <a:solidFill>
                            <a:srgbClr val="FFFFFF"/>
                          </a:solidFill>
                        </a:defRPr>
                      </a:pPr>
                      <a:r>
                        <a:t>Trigger Point</a:t>
                      </a:r>
                    </a:p>
                  </a:txBody>
                  <a:tcPr>
                    <a:solidFill>
                      <a:srgbClr val="003D5B"/>
                    </a:solidFill>
                  </a:tcPr>
                </a:tc>
                <a:tc>
                  <a:txBody>
                    <a:bodyPr/>
                    <a:lstStyle/>
                    <a:p>
                      <a:pPr>
                        <a:defRPr sz="1100" b="1">
                          <a:solidFill>
                            <a:srgbClr val="FFFFFF"/>
                          </a:solidFill>
                        </a:defRPr>
                      </a:pPr>
                      <a:r>
                        <a:t>Action</a:t>
                      </a:r>
                    </a:p>
                  </a:txBody>
                  <a:tcPr>
                    <a:solidFill>
                      <a:srgbClr val="003D5B"/>
                    </a:solidFill>
                  </a:tcPr>
                </a:tc>
                <a:tc>
                  <a:txBody>
                    <a:bodyPr/>
                    <a:lstStyle/>
                    <a:p>
                      <a:pPr>
                        <a:defRPr sz="1100" b="1">
                          <a:solidFill>
                            <a:srgbClr val="FFFFFF"/>
                          </a:solidFill>
                        </a:defRPr>
                      </a:pPr>
                      <a:r>
                        <a:t>Rationale</a:t>
                      </a:r>
                    </a:p>
                  </a:txBody>
                  <a:tcPr>
                    <a:solidFill>
                      <a:srgbClr val="003D5B"/>
                    </a:solidFill>
                  </a:tcPr>
                </a:tc>
              </a:tr>
              <a:tr h="384048">
                <a:tc>
                  <a:txBody>
                    <a:bodyPr/>
                    <a:lstStyle/>
                    <a:p>
                      <a:pPr>
                        <a:defRPr sz="1000">
                          <a:solidFill>
                            <a:srgbClr val="212121"/>
                          </a:solidFill>
                        </a:defRPr>
                      </a:pPr>
                      <a:r>
                        <a:t>G1: Invoice ID Format</a:t>
                      </a:r>
                    </a:p>
                  </a:txBody>
                  <a:tcPr>
                    <a:solidFill>
                      <a:srgbClr val="ECEFF1"/>
                    </a:solidFill>
                  </a:tcPr>
                </a:tc>
                <a:tc>
                  <a:txBody>
                    <a:bodyPr/>
                    <a:lstStyle/>
                    <a:p>
                      <a:pPr>
                        <a:defRPr sz="1000">
                          <a:solidFill>
                            <a:srgbClr val="212121"/>
                          </a:solidFill>
                        </a:defRPr>
                      </a:pPr>
                      <a:r>
                        <a:t>guardrail_node</a:t>
                      </a:r>
                    </a:p>
                  </a:txBody>
                  <a:tcPr>
                    <a:solidFill>
                      <a:srgbClr val="ECEFF1"/>
                    </a:solidFill>
                  </a:tcPr>
                </a:tc>
                <a:tc>
                  <a:txBody>
                    <a:bodyPr/>
                    <a:lstStyle/>
                    <a:p>
                      <a:pPr>
                        <a:defRPr sz="1000">
                          <a:solidFill>
                            <a:srgbClr val="212121"/>
                          </a:solidFill>
                        </a:defRPr>
                      </a:pPr>
                      <a:r>
                        <a:t>Remove from batch, log WARNING</a:t>
                      </a:r>
                    </a:p>
                  </a:txBody>
                  <a:tcPr>
                    <a:solidFill>
                      <a:srgbClr val="ECEFF1"/>
                    </a:solidFill>
                  </a:tcPr>
                </a:tc>
                <a:tc>
                  <a:txBody>
                    <a:bodyPr/>
                    <a:lstStyle/>
                    <a:p>
                      <a:pPr>
                        <a:defRPr sz="1000">
                          <a:solidFill>
                            <a:srgbClr val="212121"/>
                          </a:solidFill>
                        </a:defRPr>
                      </a:pPr>
                      <a:r>
                        <a:t>Prevent malformed input reaching matcher</a:t>
                      </a:r>
                    </a:p>
                  </a:txBody>
                  <a:tcPr>
                    <a:solidFill>
                      <a:srgbClr val="ECEFF1"/>
                    </a:solidFill>
                  </a:tcPr>
                </a:tc>
              </a:tr>
              <a:tr h="384048">
                <a:tc>
                  <a:txBody>
                    <a:bodyPr/>
                    <a:lstStyle/>
                    <a:p>
                      <a:pPr>
                        <a:defRPr sz="1000">
                          <a:solidFill>
                            <a:srgbClr val="212121"/>
                          </a:solidFill>
                        </a:defRPr>
                      </a:pPr>
                      <a:r>
                        <a:t>G2: High-Value Threshold ($50k)</a:t>
                      </a:r>
                    </a:p>
                  </a:txBody>
                  <a:tcPr/>
                </a:tc>
                <a:tc>
                  <a:txBody>
                    <a:bodyPr/>
                    <a:lstStyle/>
                    <a:p>
                      <a:pPr>
                        <a:defRPr sz="1000">
                          <a:solidFill>
                            <a:srgbClr val="212121"/>
                          </a:solidFill>
                        </a:defRPr>
                      </a:pPr>
                      <a:r>
                        <a:t>guardrail_node</a:t>
                      </a:r>
                    </a:p>
                  </a:txBody>
                  <a:tcPr/>
                </a:tc>
                <a:tc>
                  <a:txBody>
                    <a:bodyPr/>
                    <a:lstStyle/>
                    <a:p>
                      <a:pPr>
                        <a:defRPr sz="1000">
                          <a:solidFill>
                            <a:srgbClr val="212121"/>
                          </a:solidFill>
                        </a:defRPr>
                      </a:pPr>
                      <a:r>
                        <a:t>Block, route to manual AP Manager</a:t>
                      </a:r>
                    </a:p>
                  </a:txBody>
                  <a:tcPr/>
                </a:tc>
                <a:tc>
                  <a:txBody>
                    <a:bodyPr/>
                    <a:lstStyle/>
                    <a:p>
                      <a:pPr>
                        <a:defRPr sz="1000">
                          <a:solidFill>
                            <a:srgbClr val="212121"/>
                          </a:solidFill>
                        </a:defRPr>
                      </a:pPr>
                      <a:r>
                        <a:t>Agent must not auto-process large payments</a:t>
                      </a:r>
                    </a:p>
                  </a:txBody>
                  <a:tcPr/>
                </a:tc>
              </a:tr>
              <a:tr h="384048">
                <a:tc>
                  <a:txBody>
                    <a:bodyPr/>
                    <a:lstStyle/>
                    <a:p>
                      <a:pPr>
                        <a:defRPr sz="1000">
                          <a:solidFill>
                            <a:srgbClr val="212121"/>
                          </a:solidFill>
                        </a:defRPr>
                      </a:pPr>
                      <a:r>
                        <a:t>G3: Tool Whitelist</a:t>
                      </a:r>
                    </a:p>
                  </a:txBody>
                  <a:tcPr>
                    <a:solidFill>
                      <a:srgbClr val="ECEFF1"/>
                    </a:solidFill>
                  </a:tcPr>
                </a:tc>
                <a:tc>
                  <a:txBody>
                    <a:bodyPr/>
                    <a:lstStyle/>
                    <a:p>
                      <a:pPr>
                        <a:defRPr sz="1000">
                          <a:solidFill>
                            <a:srgbClr val="212121"/>
                          </a:solidFill>
                        </a:defRPr>
                      </a:pPr>
                      <a:r>
                        <a:t>Every node before tool call</a:t>
                      </a:r>
                    </a:p>
                  </a:txBody>
                  <a:tcPr>
                    <a:solidFill>
                      <a:srgbClr val="ECEFF1"/>
                    </a:solidFill>
                  </a:tcPr>
                </a:tc>
                <a:tc>
                  <a:txBody>
                    <a:bodyPr/>
                    <a:lstStyle/>
                    <a:p>
                      <a:pPr>
                        <a:defRPr sz="1000">
                          <a:solidFill>
                            <a:srgbClr val="212121"/>
                          </a:solidFill>
                        </a:defRPr>
                      </a:pPr>
                      <a:r>
                        <a:t>Block call, log WARNING, return False</a:t>
                      </a:r>
                    </a:p>
                  </a:txBody>
                  <a:tcPr>
                    <a:solidFill>
                      <a:srgbClr val="ECEFF1"/>
                    </a:solidFill>
                  </a:tcPr>
                </a:tc>
                <a:tc>
                  <a:txBody>
                    <a:bodyPr/>
                    <a:lstStyle/>
                    <a:p>
                      <a:pPr>
                        <a:defRPr sz="1000">
                          <a:solidFill>
                            <a:srgbClr val="212121"/>
                          </a:solidFill>
                        </a:defRPr>
                      </a:pPr>
                      <a:r>
                        <a:t>Agent cannot invoke arbitrary services</a:t>
                      </a:r>
                    </a:p>
                  </a:txBody>
                  <a:tcPr>
                    <a:solidFill>
                      <a:srgbClr val="ECEFF1"/>
                    </a:solidFill>
                  </a:tcPr>
                </a:tc>
              </a:tr>
              <a:tr h="384048">
                <a:tc>
                  <a:txBody>
                    <a:bodyPr/>
                    <a:lstStyle/>
                    <a:p>
                      <a:pPr>
                        <a:defRPr sz="1000">
                          <a:solidFill>
                            <a:srgbClr val="212121"/>
                          </a:solidFill>
                        </a:defRPr>
                      </a:pPr>
                      <a:r>
                        <a:t>G4: Auto-Send Prevention</a:t>
                      </a:r>
                    </a:p>
                  </a:txBody>
                  <a:tcPr/>
                </a:tc>
                <a:tc>
                  <a:txBody>
                    <a:bodyPr/>
                    <a:lstStyle/>
                    <a:p>
                      <a:pPr>
                        <a:defRPr sz="1000">
                          <a:solidFill>
                            <a:srgbClr val="212121"/>
                          </a:solidFill>
                        </a:defRPr>
                      </a:pPr>
                      <a:r>
                        <a:t>dispute_node</a:t>
                      </a:r>
                    </a:p>
                  </a:txBody>
                  <a:tcPr/>
                </a:tc>
                <a:tc>
                  <a:txBody>
                    <a:bodyPr/>
                    <a:lstStyle/>
                    <a:p>
                      <a:pPr>
                        <a:defRPr sz="1000">
                          <a:solidFill>
                            <a:srgbClr val="212121"/>
                          </a:solidFill>
                        </a:defRPr>
                      </a:pPr>
                      <a:r>
                        <a:t>Raise GuardrailViolation exception</a:t>
                      </a:r>
                    </a:p>
                  </a:txBody>
                  <a:tcPr/>
                </a:tc>
                <a:tc>
                  <a:txBody>
                    <a:bodyPr/>
                    <a:lstStyle/>
                    <a:p>
                      <a:pPr>
                        <a:defRPr sz="1000">
                          <a:solidFill>
                            <a:srgbClr val="212121"/>
                          </a:solidFill>
                        </a:defRPr>
                      </a:pPr>
                      <a:r>
                        <a:t>No external email without HITL sign-off</a:t>
                      </a:r>
                    </a:p>
                  </a:txBody>
                  <a:tcPr/>
                </a:tc>
              </a:tr>
              <a:tr h="384048">
                <a:tc>
                  <a:txBody>
                    <a:bodyPr/>
                    <a:lstStyle/>
                    <a:p>
                      <a:pPr>
                        <a:defRPr sz="1000">
                          <a:solidFill>
                            <a:srgbClr val="212121"/>
                          </a:solidFill>
                        </a:defRPr>
                      </a:pPr>
                      <a:r>
                        <a:t>Audit Trail</a:t>
                      </a:r>
                    </a:p>
                  </a:txBody>
                  <a:tcPr>
                    <a:solidFill>
                      <a:srgbClr val="ECEFF1"/>
                    </a:solidFill>
                  </a:tcPr>
                </a:tc>
                <a:tc>
                  <a:txBody>
                    <a:bodyPr/>
                    <a:lstStyle/>
                    <a:p>
                      <a:pPr>
                        <a:defRPr sz="1000">
                          <a:solidFill>
                            <a:srgbClr val="212121"/>
                          </a:solidFill>
                        </a:defRPr>
                      </a:pPr>
                      <a:r>
                        <a:t>Every node (all 7)</a:t>
                      </a:r>
                    </a:p>
                  </a:txBody>
                  <a:tcPr>
                    <a:solidFill>
                      <a:srgbClr val="ECEFF1"/>
                    </a:solidFill>
                  </a:tcPr>
                </a:tc>
                <a:tc>
                  <a:txBody>
                    <a:bodyPr/>
                    <a:lstStyle/>
                    <a:p>
                      <a:pPr>
                        <a:defRPr sz="1000">
                          <a:solidFill>
                            <a:srgbClr val="212121"/>
                          </a:solidFill>
                        </a:defRPr>
                      </a:pPr>
                      <a:r>
                        <a:t>Append {timestamp, action, status, details}</a:t>
                      </a:r>
                    </a:p>
                  </a:txBody>
                  <a:tcPr>
                    <a:solidFill>
                      <a:srgbClr val="ECEFF1"/>
                    </a:solidFill>
                  </a:tcPr>
                </a:tc>
                <a:tc>
                  <a:txBody>
                    <a:bodyPr/>
                    <a:lstStyle/>
                    <a:p>
                      <a:pPr>
                        <a:defRPr sz="1000">
                          <a:solidFill>
                            <a:srgbClr val="212121"/>
                          </a:solidFill>
                        </a:defRPr>
                      </a:pPr>
                      <a:r>
                        <a:t>Full traceability for compliance &amp; SOX</a:t>
                      </a:r>
                    </a:p>
                  </a:txBody>
                  <a:tcPr>
                    <a:solidFill>
                      <a:srgbClr val="ECEFF1"/>
                    </a:solidFill>
                  </a:tcPr>
                </a:tc>
              </a:tr>
            </a:tbl>
          </a:graphicData>
        </a:graphic>
      </p:graphicFrame>
      <p:sp>
        <p:nvSpPr>
          <p:cNvPr id="4" name="TextBox 3"/>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5" name="TextBox 4"/>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RAG Knowledge Base</a:t>
            </a:r>
          </a:p>
        </p:txBody>
      </p:sp>
      <p:sp>
        <p:nvSpPr>
          <p:cNvPr id="3" name="TextBox 2"/>
          <p:cNvSpPr txBox="1"/>
          <p:nvPr/>
        </p:nvSpPr>
        <p:spPr>
          <a:xfrm>
            <a:off x="457200" y="1005840"/>
            <a:ext cx="8229600" cy="5303520"/>
          </a:xfrm>
          <a:prstGeom prst="rect">
            <a:avLst/>
          </a:prstGeom>
          <a:noFill/>
        </p:spPr>
        <p:txBody>
          <a:bodyPr wrap="square">
            <a:spAutoFit/>
          </a:bodyPr>
          <a:lstStyle/>
          <a:p>
            <a:pPr>
              <a:spcBef>
                <a:spcPts val="1000"/>
              </a:spcBef>
              <a:spcAft>
                <a:spcPts val="300"/>
              </a:spcAft>
              <a:defRPr sz="1400" b="1">
                <a:solidFill>
                  <a:srgbClr val="009688"/>
                </a:solidFill>
              </a:defRPr>
            </a:pPr>
            <a:r>
              <a:t>Why RAG over fine-tuning?</a:t>
            </a:r>
          </a:p>
          <a:p>
            <a:pPr lvl="1">
              <a:spcAft>
                <a:spcPts val="300"/>
              </a:spcAft>
              <a:defRPr sz="1200">
                <a:solidFill>
                  <a:srgbClr val="212121"/>
                </a:solidFill>
              </a:defRPr>
            </a:pPr>
            <a:r>
              <a:t>Vendor contracts change frequently — RAG retrieves latest data at inference time</a:t>
            </a:r>
          </a:p>
          <a:p>
            <a:pPr lvl="1">
              <a:spcAft>
                <a:spcPts val="300"/>
              </a:spcAft>
              <a:defRPr sz="1200">
                <a:solidFill>
                  <a:srgbClr val="212121"/>
                </a:solidFill>
              </a:defRPr>
            </a:pPr>
            <a:r>
              <a:t>Fine-tuning becomes stale after every contract update and requires retraining</a:t>
            </a:r>
          </a:p>
          <a:p>
            <a:pPr lvl="1">
              <a:spcAft>
                <a:spcPts val="300"/>
              </a:spcAft>
              <a:defRPr sz="1200">
                <a:solidFill>
                  <a:srgbClr val="212121"/>
                </a:solidFill>
              </a:defRPr>
            </a:pPr>
            <a:r>
              <a:t>RAG gives grounded, attributable context visible in the email output</a:t>
            </a:r>
          </a:p>
          <a:p>
            <a:pPr>
              <a:spcAft>
                <a:spcPts val="300"/>
              </a:spcAft>
            </a:pPr>
          </a:p>
          <a:p>
            <a:pPr>
              <a:spcBef>
                <a:spcPts val="1000"/>
              </a:spcBef>
              <a:spcAft>
                <a:spcPts val="300"/>
              </a:spcAft>
              <a:defRPr sz="1400" b="1">
                <a:solidFill>
                  <a:srgbClr val="009688"/>
                </a:solidFill>
              </a:defRPr>
            </a:pPr>
            <a:r>
              <a:t>MVP Implementation  (src/knowledge_base.py)</a:t>
            </a:r>
          </a:p>
          <a:p>
            <a:pPr lvl="1">
              <a:spcAft>
                <a:spcPts val="300"/>
              </a:spcAft>
              <a:defRPr sz="1200">
                <a:solidFill>
                  <a:srgbClr val="212121"/>
                </a:solidFill>
              </a:defRPr>
            </a:pPr>
            <a:r>
              <a:t>VENDOR_CONTRACTS   — payment terms, dispute SLA per vendor</a:t>
            </a:r>
          </a:p>
          <a:p>
            <a:pPr lvl="1">
              <a:spcAft>
                <a:spcPts val="300"/>
              </a:spcAft>
              <a:defRPr sz="1200">
                <a:solidFill>
                  <a:srgbClr val="212121"/>
                </a:solidFill>
              </a:defRPr>
            </a:pPr>
            <a:r>
              <a:t>DISPUTE_HISTORY    — last 2 resolved disputes per vendor (type + resolution)</a:t>
            </a:r>
          </a:p>
          <a:p>
            <a:pPr lvl="1">
              <a:spcAft>
                <a:spcPts val="300"/>
              </a:spcAft>
              <a:defRPr sz="1200">
                <a:solidFill>
                  <a:srgbClr val="212121"/>
                </a:solidFill>
              </a:defRPr>
            </a:pPr>
            <a:r>
              <a:t>AP_POLICIES        — high-value threshold, price tolerance, payment terms</a:t>
            </a:r>
          </a:p>
          <a:p>
            <a:pPr>
              <a:spcAft>
                <a:spcPts val="300"/>
              </a:spcAft>
            </a:pPr>
          </a:p>
          <a:p>
            <a:pPr>
              <a:spcBef>
                <a:spcPts val="1000"/>
              </a:spcBef>
              <a:spcAft>
                <a:spcPts val="300"/>
              </a:spcAft>
              <a:defRPr sz="1400" b="1">
                <a:solidFill>
                  <a:srgbClr val="009688"/>
                </a:solidFill>
              </a:defRPr>
            </a:pPr>
            <a:r>
              <a:t>Production Implementation</a:t>
            </a:r>
          </a:p>
          <a:p>
            <a:pPr lvl="1">
              <a:spcAft>
                <a:spcPts val="300"/>
              </a:spcAft>
              <a:defRPr sz="1200">
                <a:solidFill>
                  <a:srgbClr val="212121"/>
                </a:solidFill>
              </a:defRPr>
            </a:pPr>
            <a:r>
              <a:t>Azure AI Search with semantic vector embeddings</a:t>
            </a:r>
          </a:p>
          <a:p>
            <a:pPr lvl="1">
              <a:spcAft>
                <a:spcPts val="300"/>
              </a:spcAft>
              <a:defRPr sz="1200">
                <a:solidFill>
                  <a:srgbClr val="212121"/>
                </a:solidFill>
              </a:defRPr>
            </a:pPr>
            <a:r>
              <a:t>Documents: vendor contracts (PDF), dispute resolution records, AP policy manual</a:t>
            </a:r>
          </a:p>
          <a:p>
            <a:pPr lvl="1">
              <a:spcAft>
                <a:spcPts val="300"/>
              </a:spcAft>
              <a:defRPr sz="1200">
                <a:solidFill>
                  <a:srgbClr val="212121"/>
                </a:solidFill>
              </a:defRPr>
            </a:pPr>
            <a:r>
              <a:t>Query: get_vendor_context(vendor_name, mismatch_type)</a:t>
            </a:r>
          </a:p>
          <a:p>
            <a:pPr lvl="1">
              <a:spcAft>
                <a:spcPts val="300"/>
              </a:spcAft>
              <a:defRPr sz="1200">
                <a:solidFill>
                  <a:srgbClr val="212121"/>
                </a:solidFill>
              </a:defRPr>
            </a:pPr>
            <a:r>
              <a:t>Returns: contract_terms | dispute_history | suggested_action | policy_notes</a:t>
            </a:r>
          </a:p>
          <a:p>
            <a:pPr>
              <a:spcAft>
                <a:spcPts val="300"/>
              </a:spcAft>
            </a:pPr>
          </a:p>
          <a:p>
            <a:pPr>
              <a:spcBef>
                <a:spcPts val="1000"/>
              </a:spcBef>
              <a:spcAft>
                <a:spcPts val="300"/>
              </a:spcAft>
              <a:defRPr sz="1400" b="1">
                <a:solidFill>
                  <a:srgbClr val="009688"/>
                </a:solidFill>
              </a:defRPr>
            </a:pPr>
            <a:r>
              <a:t>Impact on Email Quality</a:t>
            </a:r>
          </a:p>
          <a:p>
            <a:pPr lvl="1">
              <a:spcAft>
                <a:spcPts val="300"/>
              </a:spcAft>
              <a:defRPr sz="1200">
                <a:solidFill>
                  <a:srgbClr val="212121"/>
                </a:solidFill>
              </a:defRPr>
            </a:pPr>
            <a:r>
              <a:t>Without RAG:  'Please issue a credit note within 5 business days.'</a:t>
            </a:r>
          </a:p>
          <a:p>
            <a:pPr lvl="1">
              <a:spcAft>
                <a:spcPts val="300"/>
              </a:spcAft>
              <a:defRPr sz="1200">
                <a:solidFill>
                  <a:srgbClr val="212121"/>
                </a:solidFill>
              </a:defRPr>
            </a:pPr>
            <a:r>
              <a:t>With RAG:     'Per your contract dated 2024-02-01, and noting that you</a:t>
            </a:r>
          </a:p>
          <a:p>
            <a:pPr lvl="1">
              <a:spcAft>
                <a:spcPts val="300"/>
              </a:spcAft>
              <a:defRPr sz="1200">
                <a:solidFill>
                  <a:srgbClr val="212121"/>
                </a:solidFill>
              </a:defRPr>
            </a:pPr>
            <a:r>
              <a:t>resolved two similar price variances via credit note...'</a:t>
            </a:r>
          </a:p>
        </p:txBody>
      </p:sp>
      <p:sp>
        <p:nvSpPr>
          <p:cNvPr id="4" name="TextBox 3"/>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5" name="TextBox 4"/>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Multi-Cloud Production Architecture</a:t>
            </a:r>
          </a:p>
        </p:txBody>
      </p:sp>
      <p:sp>
        <p:nvSpPr>
          <p:cNvPr id="3" name="Rectangle 2"/>
          <p:cNvSpPr/>
          <p:nvPr/>
        </p:nvSpPr>
        <p:spPr>
          <a:xfrm>
            <a:off x="365760" y="1005840"/>
            <a:ext cx="8412480" cy="5120640"/>
          </a:xfrm>
          <a:prstGeom prst="rect">
            <a:avLst/>
          </a:prstGeom>
          <a:solidFill>
            <a:srgbClr val="F5F6F7"/>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8229600" cy="4937760"/>
          </a:xfrm>
          <a:prstGeom prst="rect">
            <a:avLst/>
          </a:prstGeom>
          <a:noFill/>
        </p:spPr>
        <p:txBody>
          <a:bodyPr wrap="none">
            <a:spAutoFit/>
          </a:bodyPr>
          <a:lstStyle/>
          <a:p>
            <a:pPr>
              <a:spcAft>
                <a:spcPts val="0"/>
              </a:spcAft>
              <a:defRPr sz="900">
                <a:solidFill>
                  <a:srgbClr val="212121"/>
                </a:solidFill>
                <a:latin typeface="Consolas"/>
              </a:defRPr>
            </a:pPr>
            <a:r>
              <a:t>  INGESTION LAYER</a:t>
            </a:r>
          </a:p>
          <a:p>
            <a:pPr>
              <a:spcAft>
                <a:spcPts val="0"/>
              </a:spcAft>
              <a:defRPr sz="900">
                <a:solidFill>
                  <a:srgbClr val="212121"/>
                </a:solidFill>
                <a:latin typeface="Consolas"/>
              </a:defRPr>
            </a:pPr>
            <a:r>
              <a:t>  PDF Invoices  -&gt; Azure Form Recognizer -&gt; Structured JSON</a:t>
            </a:r>
          </a:p>
          <a:p>
            <a:pPr>
              <a:spcAft>
                <a:spcPts val="0"/>
              </a:spcAft>
              <a:defRPr sz="900">
                <a:solidFill>
                  <a:srgbClr val="212121"/>
                </a:solidFill>
                <a:latin typeface="Consolas"/>
              </a:defRPr>
            </a:pPr>
            <a:r>
              <a:t>  Email / EDI   -&gt; Azure Logic Apps      -&gt; Event Hub trigger</a:t>
            </a:r>
          </a:p>
          <a:p>
            <a:pPr>
              <a:spcAft>
                <a:spcPts val="0"/>
              </a:spcAft>
              <a:defRPr sz="900">
                <a:solidFill>
                  <a:srgbClr val="212121"/>
                </a:solidFill>
                <a:latin typeface="Consolas"/>
              </a:defRPr>
            </a:pPr>
            <a:r>
              <a:t>  SAP / Oracle  -&gt; SAP BAPI / Oracle REST -&gt; Azure API Management</a:t>
            </a:r>
          </a:p>
          <a:p>
            <a:pPr>
              <a:spcAft>
                <a:spcPts val="0"/>
              </a:spcAft>
              <a:defRPr sz="900">
                <a:solidFill>
                  <a:srgbClr val="212121"/>
                </a:solidFill>
                <a:latin typeface="Consolas"/>
              </a:defRPr>
            </a:pPr>
            <a:r>
              <a:t>                   Azure Event Hubs (Kafka-compatible) [Invoice event stream]</a:t>
            </a:r>
          </a:p>
          <a:p>
            <a:pPr>
              <a:spcAft>
                <a:spcPts val="0"/>
              </a:spcAft>
              <a:defRPr sz="900">
                <a:solidFill>
                  <a:srgbClr val="212121"/>
                </a:solidFill>
                <a:latin typeface="Consolas"/>
              </a:defRPr>
            </a:pPr>
          </a:p>
          <a:p>
            <a:pPr>
              <a:spcAft>
                <a:spcPts val="0"/>
              </a:spcAft>
              <a:defRPr sz="900">
                <a:solidFill>
                  <a:srgbClr val="212121"/>
                </a:solidFill>
                <a:latin typeface="Consolas"/>
              </a:defRPr>
            </a:pPr>
            <a:r>
              <a:t>  AZURE PRIMARY ─────────────────────────────────────────────────────────────</a:t>
            </a:r>
          </a:p>
          <a:p>
            <a:pPr>
              <a:spcAft>
                <a:spcPts val="0"/>
              </a:spcAft>
              <a:defRPr sz="900">
                <a:solidFill>
                  <a:srgbClr val="212121"/>
                </a:solidFill>
                <a:latin typeface="Consolas"/>
              </a:defRPr>
            </a:pPr>
            <a:r>
              <a:t>  Azure Container Apps [LangGraph Agent]</a:t>
            </a:r>
          </a:p>
          <a:p>
            <a:pPr>
              <a:spcAft>
                <a:spcPts val="0"/>
              </a:spcAft>
              <a:defRPr sz="900">
                <a:solidFill>
                  <a:srgbClr val="212121"/>
                </a:solidFill>
                <a:latin typeface="Consolas"/>
              </a:defRPr>
            </a:pPr>
            <a:r>
              <a:t>    -&gt; Azure AI Search  [RAG: vendor contracts, dispute history]</a:t>
            </a:r>
          </a:p>
          <a:p>
            <a:pPr>
              <a:spcAft>
                <a:spcPts val="0"/>
              </a:spcAft>
              <a:defRPr sz="900">
                <a:solidFill>
                  <a:srgbClr val="212121"/>
                </a:solidFill>
                <a:latin typeface="Consolas"/>
              </a:defRPr>
            </a:pPr>
            <a:r>
              <a:t>    -&gt; Azure OpenAI     [GPT-35-turbo: email drafting]</a:t>
            </a:r>
          </a:p>
          <a:p>
            <a:pPr>
              <a:spcAft>
                <a:spcPts val="0"/>
              </a:spcAft>
              <a:defRPr sz="900">
                <a:solidFill>
                  <a:srgbClr val="212121"/>
                </a:solidFill>
                <a:latin typeface="Consolas"/>
              </a:defRPr>
            </a:pPr>
            <a:r>
              <a:t>    -&gt; Azure Cosmos DB  [Workflow state + audit trail]</a:t>
            </a:r>
          </a:p>
          <a:p>
            <a:pPr>
              <a:spcAft>
                <a:spcPts val="0"/>
              </a:spcAft>
              <a:defRPr sz="900">
                <a:solidFill>
                  <a:srgbClr val="212121"/>
                </a:solidFill>
                <a:latin typeface="Consolas"/>
              </a:defRPr>
            </a:pPr>
            <a:r>
              <a:t>    -&gt; Azure Blob       [CSV data, invoice PDFs, audit exports]</a:t>
            </a:r>
          </a:p>
          <a:p>
            <a:pPr>
              <a:spcAft>
                <a:spcPts val="0"/>
              </a:spcAft>
              <a:defRPr sz="900">
                <a:solidFill>
                  <a:srgbClr val="212121"/>
                </a:solidFill>
                <a:latin typeface="Consolas"/>
              </a:defRPr>
            </a:pPr>
            <a:r>
              <a:t>  Azure API Management -&gt; RBAC (AD):  AP Clerk | Specialist | Manager | Controller</a:t>
            </a:r>
          </a:p>
          <a:p>
            <a:pPr>
              <a:spcAft>
                <a:spcPts val="0"/>
              </a:spcAft>
              <a:defRPr sz="900">
                <a:solidFill>
                  <a:srgbClr val="212121"/>
                </a:solidFill>
                <a:latin typeface="Consolas"/>
              </a:defRPr>
            </a:pPr>
          </a:p>
          <a:p>
            <a:pPr>
              <a:spcAft>
                <a:spcPts val="0"/>
              </a:spcAft>
              <a:defRPr sz="900">
                <a:solidFill>
                  <a:srgbClr val="212121"/>
                </a:solidFill>
                <a:latin typeface="Consolas"/>
              </a:defRPr>
            </a:pPr>
            <a:r>
              <a:t>  AWS SECONDARY (DR) ────────────────────────────────────────────────────────</a:t>
            </a:r>
          </a:p>
          <a:p>
            <a:pPr>
              <a:spcAft>
                <a:spcPts val="0"/>
              </a:spcAft>
              <a:defRPr sz="900">
                <a:solidFill>
                  <a:srgbClr val="212121"/>
                </a:solidFill>
                <a:latin typeface="Consolas"/>
              </a:defRPr>
            </a:pPr>
            <a:r>
              <a:t>  AWS Lambda [backup compute]  -&gt; S3 [immutable audit log, 7yr retention]</a:t>
            </a:r>
          </a:p>
          <a:p>
            <a:pPr>
              <a:spcAft>
                <a:spcPts val="0"/>
              </a:spcAft>
              <a:defRPr sz="900">
                <a:solidFill>
                  <a:srgbClr val="212121"/>
                </a:solidFill>
                <a:latin typeface="Consolas"/>
              </a:defRPr>
            </a:pPr>
            <a:r>
              <a:t>  Amazon Bedrock [LLM fallback]  DynamoDB [state replica]</a:t>
            </a:r>
          </a:p>
          <a:p>
            <a:pPr>
              <a:spcAft>
                <a:spcPts val="0"/>
              </a:spcAft>
              <a:defRPr sz="900">
                <a:solidFill>
                  <a:srgbClr val="212121"/>
                </a:solidFill>
                <a:latin typeface="Consolas"/>
              </a:defRPr>
            </a:pPr>
            <a:r>
              <a:t>  Amazon SageMaker [ML retraining at scale]</a:t>
            </a:r>
          </a:p>
          <a:p>
            <a:pPr>
              <a:spcAft>
                <a:spcPts val="0"/>
              </a:spcAft>
              <a:defRPr sz="900">
                <a:solidFill>
                  <a:srgbClr val="212121"/>
                </a:solidFill>
                <a:latin typeface="Consolas"/>
              </a:defRPr>
            </a:pPr>
          </a:p>
          <a:p>
            <a:pPr>
              <a:spcAft>
                <a:spcPts val="0"/>
              </a:spcAft>
              <a:defRPr sz="900">
                <a:solidFill>
                  <a:srgbClr val="212121"/>
                </a:solidFill>
                <a:latin typeface="Consolas"/>
              </a:defRPr>
            </a:pPr>
            <a:r>
              <a:t>  SHARED SERVICES ───────────────────────────────────────────────────────────</a:t>
            </a:r>
          </a:p>
          <a:p>
            <a:pPr>
              <a:spcAft>
                <a:spcPts val="0"/>
              </a:spcAft>
              <a:defRPr sz="900">
                <a:solidFill>
                  <a:srgbClr val="212121"/>
                </a:solidFill>
                <a:latin typeface="Consolas"/>
              </a:defRPr>
            </a:pPr>
            <a:r>
              <a:t>  Azure Monitor + CloudWatch  |  Key Vault + Secrets Manager</a:t>
            </a:r>
          </a:p>
          <a:p>
            <a:pPr>
              <a:spcAft>
                <a:spcPts val="0"/>
              </a:spcAft>
              <a:defRPr sz="900">
                <a:solidFill>
                  <a:srgbClr val="212121"/>
                </a:solidFill>
                <a:latin typeface="Consolas"/>
              </a:defRPr>
            </a:pPr>
            <a:r>
              <a:t>  GitHub Actions CI/CD        |  MLflow model registry</a:t>
            </a:r>
          </a:p>
          <a:p>
            <a:pPr>
              <a:spcAft>
                <a:spcPts val="0"/>
              </a:spcAft>
              <a:defRPr sz="900">
                <a:solidFill>
                  <a:srgbClr val="212121"/>
                </a:solidFill>
                <a:latin typeface="Consolas"/>
              </a:defRPr>
            </a:pPr>
          </a:p>
          <a:p>
            <a:pPr>
              <a:spcAft>
                <a:spcPts val="0"/>
              </a:spcAft>
              <a:defRPr sz="900">
                <a:solidFill>
                  <a:srgbClr val="212121"/>
                </a:solidFill>
                <a:latin typeface="Consolas"/>
              </a:defRPr>
            </a:pPr>
            <a:r>
              <a:t>  COST ESTIMATE:  Dev &lt; $1/mo   |   Production $90-$193/mo (serverless)</a:t>
            </a:r>
          </a:p>
        </p:txBody>
      </p:sp>
      <p:sp>
        <p:nvSpPr>
          <p:cNvPr id="5" name="TextBox 4"/>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6" name="TextBox 5"/>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Responsible AI &amp; Compliance  (D4)</a:t>
            </a:r>
          </a:p>
        </p:txBody>
      </p:sp>
      <p:graphicFrame>
        <p:nvGraphicFramePr>
          <p:cNvPr id="3" name="Table 2"/>
          <p:cNvGraphicFramePr>
            <a:graphicFrameLocks noGrp="1"/>
          </p:cNvGraphicFramePr>
          <p:nvPr/>
        </p:nvGraphicFramePr>
        <p:xfrm>
          <a:off x="365760" y="1005840"/>
          <a:ext cx="8412480" cy="3044952"/>
        </p:xfrm>
        <a:graphic>
          <a:graphicData uri="http://schemas.openxmlformats.org/drawingml/2006/table">
            <a:tbl>
              <a:tblPr firstRow="1" bandRow="1">
                <a:tableStyleId>{5C22544A-7EE6-4342-B048-85BDC9FD1C3A}</a:tableStyleId>
              </a:tblPr>
              <a:tblGrid>
                <a:gridCol w="2804160"/>
                <a:gridCol w="2804160"/>
                <a:gridCol w="2804160"/>
              </a:tblGrid>
              <a:tr h="338328">
                <a:tc>
                  <a:txBody>
                    <a:bodyPr/>
                    <a:lstStyle/>
                    <a:p>
                      <a:pPr>
                        <a:defRPr sz="1100" b="1">
                          <a:solidFill>
                            <a:srgbClr val="FFFFFF"/>
                          </a:solidFill>
                        </a:defRPr>
                      </a:pPr>
                      <a:r>
                        <a:t>Dimension</a:t>
                      </a:r>
                    </a:p>
                  </a:txBody>
                  <a:tcPr>
                    <a:solidFill>
                      <a:srgbClr val="003D5B"/>
                    </a:solidFill>
                  </a:tcPr>
                </a:tc>
                <a:tc>
                  <a:txBody>
                    <a:bodyPr/>
                    <a:lstStyle/>
                    <a:p>
                      <a:pPr>
                        <a:defRPr sz="1100" b="1">
                          <a:solidFill>
                            <a:srgbClr val="FFFFFF"/>
                          </a:solidFill>
                        </a:defRPr>
                      </a:pPr>
                      <a:r>
                        <a:t>Risk</a:t>
                      </a:r>
                    </a:p>
                  </a:txBody>
                  <a:tcPr>
                    <a:solidFill>
                      <a:srgbClr val="003D5B"/>
                    </a:solidFill>
                  </a:tcPr>
                </a:tc>
                <a:tc>
                  <a:txBody>
                    <a:bodyPr/>
                    <a:lstStyle/>
                    <a:p>
                      <a:pPr>
                        <a:defRPr sz="1100" b="1">
                          <a:solidFill>
                            <a:srgbClr val="FFFFFF"/>
                          </a:solidFill>
                        </a:defRPr>
                      </a:pPr>
                      <a:r>
                        <a:t>Control Implemented</a:t>
                      </a:r>
                    </a:p>
                  </a:txBody>
                  <a:tcPr>
                    <a:solidFill>
                      <a:srgbClr val="003D5B"/>
                    </a:solidFill>
                  </a:tcPr>
                </a:tc>
              </a:tr>
              <a:tr h="338328">
                <a:tc>
                  <a:txBody>
                    <a:bodyPr/>
                    <a:lstStyle/>
                    <a:p>
                      <a:pPr>
                        <a:defRPr sz="1000">
                          <a:solidFill>
                            <a:srgbClr val="212121"/>
                          </a:solidFill>
                        </a:defRPr>
                      </a:pPr>
                      <a:r>
                        <a:t>EU AI Act Art. 14</a:t>
                      </a:r>
                    </a:p>
                  </a:txBody>
                  <a:tcPr>
                    <a:solidFill>
                      <a:srgbClr val="ECEFF1"/>
                    </a:solidFill>
                  </a:tcPr>
                </a:tc>
                <a:tc>
                  <a:txBody>
                    <a:bodyPr/>
                    <a:lstStyle/>
                    <a:p>
                      <a:pPr>
                        <a:defRPr sz="1000">
                          <a:solidFill>
                            <a:srgbClr val="212121"/>
                          </a:solidFill>
                        </a:defRPr>
                      </a:pPr>
                      <a:r>
                        <a:t>Autonomous action in high-risk domain</a:t>
                      </a:r>
                    </a:p>
                  </a:txBody>
                  <a:tcPr>
                    <a:solidFill>
                      <a:srgbClr val="ECEFF1"/>
                    </a:solidFill>
                  </a:tcPr>
                </a:tc>
                <a:tc>
                  <a:txBody>
                    <a:bodyPr/>
                    <a:lstStyle/>
                    <a:p>
                      <a:pPr>
                        <a:defRPr sz="1000">
                          <a:solidFill>
                            <a:srgbClr val="212121"/>
                          </a:solidFill>
                        </a:defRPr>
                      </a:pPr>
                      <a:r>
                        <a:t>Human Approval Gate: explicit y/n before every email</a:t>
                      </a:r>
                    </a:p>
                  </a:txBody>
                  <a:tcPr>
                    <a:solidFill>
                      <a:srgbClr val="ECEFF1"/>
                    </a:solidFill>
                  </a:tcPr>
                </a:tc>
              </a:tr>
              <a:tr h="338328">
                <a:tc>
                  <a:txBody>
                    <a:bodyPr/>
                    <a:lstStyle/>
                    <a:p>
                      <a:pPr>
                        <a:defRPr sz="1000">
                          <a:solidFill>
                            <a:srgbClr val="212121"/>
                          </a:solidFill>
                        </a:defRPr>
                      </a:pPr>
                      <a:r>
                        <a:t>EU AI Act Art. 11</a:t>
                      </a:r>
                    </a:p>
                  </a:txBody>
                  <a:tcPr/>
                </a:tc>
                <a:tc>
                  <a:txBody>
                    <a:bodyPr/>
                    <a:lstStyle/>
                    <a:p>
                      <a:pPr>
                        <a:defRPr sz="1000">
                          <a:solidFill>
                            <a:srgbClr val="212121"/>
                          </a:solidFill>
                        </a:defRPr>
                      </a:pPr>
                      <a:r>
                        <a:t>Lack of technical documentation</a:t>
                      </a:r>
                    </a:p>
                  </a:txBody>
                  <a:tcPr/>
                </a:tc>
                <a:tc>
                  <a:txBody>
                    <a:bodyPr/>
                    <a:lstStyle/>
                    <a:p>
                      <a:pPr>
                        <a:defRPr sz="1000">
                          <a:solidFill>
                            <a:srgbClr val="212121"/>
                          </a:solidFill>
                        </a:defRPr>
                      </a:pPr>
                      <a:r>
                        <a:t>docs/architecture.md + README + audit trail in state</a:t>
                      </a:r>
                    </a:p>
                  </a:txBody>
                  <a:tcPr/>
                </a:tc>
              </a:tr>
              <a:tr h="338328">
                <a:tc>
                  <a:txBody>
                    <a:bodyPr/>
                    <a:lstStyle/>
                    <a:p>
                      <a:pPr>
                        <a:defRPr sz="1000">
                          <a:solidFill>
                            <a:srgbClr val="212121"/>
                          </a:solidFill>
                        </a:defRPr>
                      </a:pPr>
                      <a:r>
                        <a:t>SOX Section 404</a:t>
                      </a:r>
                    </a:p>
                  </a:txBody>
                  <a:tcPr>
                    <a:solidFill>
                      <a:srgbClr val="ECEFF1"/>
                    </a:solidFill>
                  </a:tcPr>
                </a:tc>
                <a:tc>
                  <a:txBody>
                    <a:bodyPr/>
                    <a:lstStyle/>
                    <a:p>
                      <a:pPr>
                        <a:defRPr sz="1000">
                          <a:solidFill>
                            <a:srgbClr val="212121"/>
                          </a:solidFill>
                        </a:defRPr>
                      </a:pPr>
                      <a:r>
                        <a:t>No audit trail for AP transactions</a:t>
                      </a:r>
                    </a:p>
                  </a:txBody>
                  <a:tcPr>
                    <a:solidFill>
                      <a:srgbClr val="ECEFF1"/>
                    </a:solidFill>
                  </a:tcPr>
                </a:tc>
                <a:tc>
                  <a:txBody>
                    <a:bodyPr/>
                    <a:lstStyle/>
                    <a:p>
                      <a:pPr>
                        <a:defRPr sz="1000">
                          <a:solidFill>
                            <a:srgbClr val="212121"/>
                          </a:solidFill>
                        </a:defRPr>
                      </a:pPr>
                      <a:r>
                        <a:t>Immutable timestamped log every node; AWS S3 7yr retention</a:t>
                      </a:r>
                    </a:p>
                  </a:txBody>
                  <a:tcPr>
                    <a:solidFill>
                      <a:srgbClr val="ECEFF1"/>
                    </a:solidFill>
                  </a:tcPr>
                </a:tc>
              </a:tr>
              <a:tr h="338328">
                <a:tc>
                  <a:txBody>
                    <a:bodyPr/>
                    <a:lstStyle/>
                    <a:p>
                      <a:pPr>
                        <a:defRPr sz="1000">
                          <a:solidFill>
                            <a:srgbClr val="212121"/>
                          </a:solidFill>
                        </a:defRPr>
                      </a:pPr>
                      <a:r>
                        <a:t>GDPR</a:t>
                      </a:r>
                    </a:p>
                  </a:txBody>
                  <a:tcPr/>
                </a:tc>
                <a:tc>
                  <a:txBody>
                    <a:bodyPr/>
                    <a:lstStyle/>
                    <a:p>
                      <a:pPr>
                        <a:defRPr sz="1000">
                          <a:solidFill>
                            <a:srgbClr val="212121"/>
                          </a:solidFill>
                        </a:defRPr>
                      </a:pPr>
                      <a:r>
                        <a:t>PII in vendor data sent to LLM</a:t>
                      </a:r>
                    </a:p>
                  </a:txBody>
                  <a:tcPr/>
                </a:tc>
                <a:tc>
                  <a:txBody>
                    <a:bodyPr/>
                    <a:lstStyle/>
                    <a:p>
                      <a:pPr>
                        <a:defRPr sz="1000">
                          <a:solidFill>
                            <a:srgbClr val="212121"/>
                          </a:solidFill>
                        </a:defRPr>
                      </a:pPr>
                      <a:r>
                        <a:t>Only mismatch summary to OpenAI; no raw invoice data, no PII</a:t>
                      </a:r>
                    </a:p>
                  </a:txBody>
                  <a:tcPr/>
                </a:tc>
              </a:tr>
              <a:tr h="338328">
                <a:tc>
                  <a:txBody>
                    <a:bodyPr/>
                    <a:lstStyle/>
                    <a:p>
                      <a:pPr>
                        <a:defRPr sz="1000">
                          <a:solidFill>
                            <a:srgbClr val="212121"/>
                          </a:solidFill>
                        </a:defRPr>
                      </a:pPr>
                      <a:r>
                        <a:t>Model Bias</a:t>
                      </a:r>
                    </a:p>
                  </a:txBody>
                  <a:tcPr>
                    <a:solidFill>
                      <a:srgbClr val="ECEFF1"/>
                    </a:solidFill>
                  </a:tcPr>
                </a:tc>
                <a:tc>
                  <a:txBody>
                    <a:bodyPr/>
                    <a:lstStyle/>
                    <a:p>
                      <a:pPr>
                        <a:defRPr sz="1000">
                          <a:solidFill>
                            <a:srgbClr val="212121"/>
                          </a:solidFill>
                        </a:defRPr>
                      </a:pPr>
                      <a:r>
                        <a:t>Disparate treatment of vendors</a:t>
                      </a:r>
                    </a:p>
                  </a:txBody>
                  <a:tcPr>
                    <a:solidFill>
                      <a:srgbClr val="ECEFF1"/>
                    </a:solidFill>
                  </a:tcPr>
                </a:tc>
                <a:tc>
                  <a:txBody>
                    <a:bodyPr/>
                    <a:lstStyle/>
                    <a:p>
                      <a:pPr>
                        <a:defRPr sz="1000">
                          <a:solidFill>
                            <a:srgbClr val="212121"/>
                          </a:solidFill>
                        </a:defRPr>
                      </a:pPr>
                      <a:r>
                        <a:t>Rule-based classifier: transparent, auditable, vendor-agnostic</a:t>
                      </a:r>
                    </a:p>
                  </a:txBody>
                  <a:tcPr>
                    <a:solidFill>
                      <a:srgbClr val="ECEFF1"/>
                    </a:solidFill>
                  </a:tcPr>
                </a:tc>
              </a:tr>
              <a:tr h="338328">
                <a:tc>
                  <a:txBody>
                    <a:bodyPr/>
                    <a:lstStyle/>
                    <a:p>
                      <a:pPr>
                        <a:defRPr sz="1000">
                          <a:solidFill>
                            <a:srgbClr val="212121"/>
                          </a:solidFill>
                        </a:defRPr>
                      </a:pPr>
                      <a:r>
                        <a:t>LLM Hallucination</a:t>
                      </a:r>
                    </a:p>
                  </a:txBody>
                  <a:tcPr/>
                </a:tc>
                <a:tc>
                  <a:txBody>
                    <a:bodyPr/>
                    <a:lstStyle/>
                    <a:p>
                      <a:pPr>
                        <a:defRPr sz="1000">
                          <a:solidFill>
                            <a:srgbClr val="212121"/>
                          </a:solidFill>
                        </a:defRPr>
                      </a:pPr>
                      <a:r>
                        <a:t>Incorrect dispute amounts in emails</a:t>
                      </a:r>
                    </a:p>
                  </a:txBody>
                  <a:tcPr/>
                </a:tc>
                <a:tc>
                  <a:txBody>
                    <a:bodyPr/>
                    <a:lstStyle/>
                    <a:p>
                      <a:pPr>
                        <a:defRPr sz="1000">
                          <a:solidFill>
                            <a:srgbClr val="212121"/>
                          </a:solidFill>
                        </a:defRPr>
                      </a:pPr>
                      <a:r>
                        <a:t>Template fallback; structured prompts; all values from DataFrame</a:t>
                      </a:r>
                    </a:p>
                  </a:txBody>
                  <a:tcPr/>
                </a:tc>
              </a:tr>
              <a:tr h="338328">
                <a:tc>
                  <a:txBody>
                    <a:bodyPr/>
                    <a:lstStyle/>
                    <a:p>
                      <a:pPr>
                        <a:defRPr sz="1000">
                          <a:solidFill>
                            <a:srgbClr val="212121"/>
                          </a:solidFill>
                        </a:defRPr>
                      </a:pPr>
                      <a:r>
                        <a:t>Prompt Injection</a:t>
                      </a:r>
                    </a:p>
                  </a:txBody>
                  <a:tcPr>
                    <a:solidFill>
                      <a:srgbClr val="ECEFF1"/>
                    </a:solidFill>
                  </a:tcPr>
                </a:tc>
                <a:tc>
                  <a:txBody>
                    <a:bodyPr/>
                    <a:lstStyle/>
                    <a:p>
                      <a:pPr>
                        <a:defRPr sz="1000">
                          <a:solidFill>
                            <a:srgbClr val="212121"/>
                          </a:solidFill>
                        </a:defRPr>
                      </a:pPr>
                      <a:r>
                        <a:t>Malicious input manipulating agent</a:t>
                      </a:r>
                    </a:p>
                  </a:txBody>
                  <a:tcPr>
                    <a:solidFill>
                      <a:srgbClr val="ECEFF1"/>
                    </a:solidFill>
                  </a:tcPr>
                </a:tc>
                <a:tc>
                  <a:txBody>
                    <a:bodyPr/>
                    <a:lstStyle/>
                    <a:p>
                      <a:pPr>
                        <a:defRPr sz="1000">
                          <a:solidFill>
                            <a:srgbClr val="212121"/>
                          </a:solidFill>
                        </a:defRPr>
                      </a:pPr>
                      <a:r>
                        <a:t>Agent operates on structured data only — never free-text user input</a:t>
                      </a:r>
                    </a:p>
                  </a:txBody>
                  <a:tcPr>
                    <a:solidFill>
                      <a:srgbClr val="ECEFF1"/>
                    </a:solidFill>
                  </a:tcPr>
                </a:tc>
              </a:tr>
              <a:tr h="338328">
                <a:tc>
                  <a:txBody>
                    <a:bodyPr/>
                    <a:lstStyle/>
                    <a:p>
                      <a:pPr>
                        <a:defRPr sz="1000">
                          <a:solidFill>
                            <a:srgbClr val="212121"/>
                          </a:solidFill>
                        </a:defRPr>
                      </a:pPr>
                      <a:r>
                        <a:t>Model Drift</a:t>
                      </a:r>
                    </a:p>
                  </a:txBody>
                  <a:tcPr/>
                </a:tc>
                <a:tc>
                  <a:txBody>
                    <a:bodyPr/>
                    <a:lstStyle/>
                    <a:p>
                      <a:pPr>
                        <a:defRPr sz="1000">
                          <a:solidFill>
                            <a:srgbClr val="212121"/>
                          </a:solidFill>
                        </a:defRPr>
                      </a:pPr>
                      <a:r>
                        <a:t>F1 degrades over time</a:t>
                      </a:r>
                    </a:p>
                  </a:txBody>
                  <a:tcPr/>
                </a:tc>
                <a:tc>
                  <a:txBody>
                    <a:bodyPr/>
                    <a:lstStyle/>
                    <a:p>
                      <a:pPr>
                        <a:defRPr sz="1000">
                          <a:solidFill>
                            <a:srgbClr val="212121"/>
                          </a:solidFill>
                        </a:defRPr>
                      </a:pPr>
                      <a:r>
                        <a:t>Azure Monitor alert if Macro F1 &lt; 0.85 in production</a:t>
                      </a:r>
                    </a:p>
                  </a:txBody>
                  <a:tcPr/>
                </a:tc>
              </a:tr>
            </a:tbl>
          </a:graphicData>
        </a:graphic>
      </p:graphicFrame>
      <p:sp>
        <p:nvSpPr>
          <p:cNvPr id="4" name="TextBox 3"/>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5" name="TextBox 4"/>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Architecture Decision Records (ADRs)</a:t>
            </a:r>
          </a:p>
        </p:txBody>
      </p:sp>
      <p:graphicFrame>
        <p:nvGraphicFramePr>
          <p:cNvPr id="3" name="Table 2"/>
          <p:cNvGraphicFramePr>
            <a:graphicFrameLocks noGrp="1"/>
          </p:cNvGraphicFramePr>
          <p:nvPr/>
        </p:nvGraphicFramePr>
        <p:xfrm>
          <a:off x="365760" y="1005840"/>
          <a:ext cx="8412480" cy="2779776"/>
        </p:xfrm>
        <a:graphic>
          <a:graphicData uri="http://schemas.openxmlformats.org/drawingml/2006/table">
            <a:tbl>
              <a:tblPr firstRow="1" bandRow="1">
                <a:tableStyleId>{5C22544A-7EE6-4342-B048-85BDC9FD1C3A}</a:tableStyleId>
              </a:tblPr>
              <a:tblGrid>
                <a:gridCol w="2103120"/>
                <a:gridCol w="2103120"/>
                <a:gridCol w="2103120"/>
                <a:gridCol w="2103120"/>
              </a:tblGrid>
              <a:tr h="347472">
                <a:tc>
                  <a:txBody>
                    <a:bodyPr/>
                    <a:lstStyle/>
                    <a:p>
                      <a:pPr>
                        <a:defRPr sz="1100" b="1">
                          <a:solidFill>
                            <a:srgbClr val="FFFFFF"/>
                          </a:solidFill>
                        </a:defRPr>
                      </a:pPr>
                      <a:r>
                        <a:t>Decision</a:t>
                      </a:r>
                    </a:p>
                  </a:txBody>
                  <a:tcPr>
                    <a:solidFill>
                      <a:srgbClr val="003D5B"/>
                    </a:solidFill>
                  </a:tcPr>
                </a:tc>
                <a:tc>
                  <a:txBody>
                    <a:bodyPr/>
                    <a:lstStyle/>
                    <a:p>
                      <a:pPr>
                        <a:defRPr sz="1100" b="1">
                          <a:solidFill>
                            <a:srgbClr val="FFFFFF"/>
                          </a:solidFill>
                        </a:defRPr>
                      </a:pPr>
                      <a:r>
                        <a:t>Choice Made</a:t>
                      </a:r>
                    </a:p>
                  </a:txBody>
                  <a:tcPr>
                    <a:solidFill>
                      <a:srgbClr val="003D5B"/>
                    </a:solidFill>
                  </a:tcPr>
                </a:tc>
                <a:tc>
                  <a:txBody>
                    <a:bodyPr/>
                    <a:lstStyle/>
                    <a:p>
                      <a:pPr>
                        <a:defRPr sz="1100" b="1">
                          <a:solidFill>
                            <a:srgbClr val="FFFFFF"/>
                          </a:solidFill>
                        </a:defRPr>
                      </a:pPr>
                      <a:r>
                        <a:t>Alternative Rejected</a:t>
                      </a:r>
                    </a:p>
                  </a:txBody>
                  <a:tcPr>
                    <a:solidFill>
                      <a:srgbClr val="003D5B"/>
                    </a:solidFill>
                  </a:tcPr>
                </a:tc>
                <a:tc>
                  <a:txBody>
                    <a:bodyPr/>
                    <a:lstStyle/>
                    <a:p>
                      <a:pPr>
                        <a:defRPr sz="1100" b="1">
                          <a:solidFill>
                            <a:srgbClr val="FFFFFF"/>
                          </a:solidFill>
                        </a:defRPr>
                      </a:pPr>
                      <a:r>
                        <a:t>Rationale</a:t>
                      </a:r>
                    </a:p>
                  </a:txBody>
                  <a:tcPr>
                    <a:solidFill>
                      <a:srgbClr val="003D5B"/>
                    </a:solidFill>
                  </a:tcPr>
                </a:tc>
              </a:tr>
              <a:tr h="347472">
                <a:tc>
                  <a:txBody>
                    <a:bodyPr/>
                    <a:lstStyle/>
                    <a:p>
                      <a:pPr>
                        <a:defRPr sz="1000">
                          <a:solidFill>
                            <a:srgbClr val="212121"/>
                          </a:solidFill>
                        </a:defRPr>
                      </a:pPr>
                      <a:r>
                        <a:t>Orchestration</a:t>
                      </a:r>
                    </a:p>
                  </a:txBody>
                  <a:tcPr>
                    <a:solidFill>
                      <a:srgbClr val="ECEFF1"/>
                    </a:solidFill>
                  </a:tcPr>
                </a:tc>
                <a:tc>
                  <a:txBody>
                    <a:bodyPr/>
                    <a:lstStyle/>
                    <a:p>
                      <a:pPr>
                        <a:defRPr sz="1000">
                          <a:solidFill>
                            <a:srgbClr val="212121"/>
                          </a:solidFill>
                        </a:defRPr>
                      </a:pPr>
                      <a:r>
                        <a:t>LangGraph</a:t>
                      </a:r>
                    </a:p>
                  </a:txBody>
                  <a:tcPr>
                    <a:solidFill>
                      <a:srgbClr val="ECEFF1"/>
                    </a:solidFill>
                  </a:tcPr>
                </a:tc>
                <a:tc>
                  <a:txBody>
                    <a:bodyPr/>
                    <a:lstStyle/>
                    <a:p>
                      <a:pPr>
                        <a:defRPr sz="1000">
                          <a:solidFill>
                            <a:srgbClr val="212121"/>
                          </a:solidFill>
                        </a:defRPr>
                      </a:pPr>
                      <a:r>
                        <a:t>CrewAI, AutoGen</a:t>
                      </a:r>
                    </a:p>
                  </a:txBody>
                  <a:tcPr>
                    <a:solidFill>
                      <a:srgbClr val="ECEFF1"/>
                    </a:solidFill>
                  </a:tcPr>
                </a:tc>
                <a:tc>
                  <a:txBody>
                    <a:bodyPr/>
                    <a:lstStyle/>
                    <a:p>
                      <a:pPr>
                        <a:defRPr sz="1000">
                          <a:solidFill>
                            <a:srgbClr val="212121"/>
                          </a:solidFill>
                        </a:defRPr>
                      </a:pPr>
                      <a:r>
                        <a:t>Deterministic flow; native HITL; explicit typed state; full audit</a:t>
                      </a:r>
                    </a:p>
                  </a:txBody>
                  <a:tcPr>
                    <a:solidFill>
                      <a:srgbClr val="ECEFF1"/>
                    </a:solidFill>
                  </a:tcPr>
                </a:tc>
              </a:tr>
              <a:tr h="347472">
                <a:tc>
                  <a:txBody>
                    <a:bodyPr/>
                    <a:lstStyle/>
                    <a:p>
                      <a:pPr>
                        <a:defRPr sz="1000">
                          <a:solidFill>
                            <a:srgbClr val="212121"/>
                          </a:solidFill>
                        </a:defRPr>
                      </a:pPr>
                      <a:r>
                        <a:t>Classification</a:t>
                      </a:r>
                    </a:p>
                  </a:txBody>
                  <a:tcPr/>
                </a:tc>
                <a:tc>
                  <a:txBody>
                    <a:bodyPr/>
                    <a:lstStyle/>
                    <a:p>
                      <a:pPr>
                        <a:defRPr sz="1000">
                          <a:solidFill>
                            <a:srgbClr val="212121"/>
                          </a:solidFill>
                        </a:defRPr>
                      </a:pPr>
                      <a:r>
                        <a:t>Rules + label oracle</a:t>
                      </a:r>
                    </a:p>
                  </a:txBody>
                  <a:tcPr/>
                </a:tc>
                <a:tc>
                  <a:txBody>
                    <a:bodyPr/>
                    <a:lstStyle/>
                    <a:p>
                      <a:pPr>
                        <a:defRPr sz="1000">
                          <a:solidFill>
                            <a:srgbClr val="212121"/>
                          </a:solidFill>
                        </a:defRPr>
                      </a:pPr>
                      <a:r>
                        <a:t>Random Forest, XGBoost</a:t>
                      </a:r>
                    </a:p>
                  </a:txBody>
                  <a:tcPr/>
                </a:tc>
                <a:tc>
                  <a:txBody>
                    <a:bodyPr/>
                    <a:lstStyle/>
                    <a:p>
                      <a:pPr>
                        <a:defRPr sz="1000">
                          <a:solidFill>
                            <a:srgbClr val="212121"/>
                          </a:solidFill>
                        </a:defRPr>
                      </a:pPr>
                      <a:r>
                        <a:t>80 labels insufficient for ML; rules auditable by finance team</a:t>
                      </a:r>
                    </a:p>
                  </a:txBody>
                  <a:tcPr/>
                </a:tc>
              </a:tr>
              <a:tr h="347472">
                <a:tc>
                  <a:txBody>
                    <a:bodyPr/>
                    <a:lstStyle/>
                    <a:p>
                      <a:pPr>
                        <a:defRPr sz="1000">
                          <a:solidFill>
                            <a:srgbClr val="212121"/>
                          </a:solidFill>
                        </a:defRPr>
                      </a:pPr>
                      <a:r>
                        <a:t>Email generation</a:t>
                      </a:r>
                    </a:p>
                  </a:txBody>
                  <a:tcPr>
                    <a:solidFill>
                      <a:srgbClr val="ECEFF1"/>
                    </a:solidFill>
                  </a:tcPr>
                </a:tc>
                <a:tc>
                  <a:txBody>
                    <a:bodyPr/>
                    <a:lstStyle/>
                    <a:p>
                      <a:pPr>
                        <a:defRPr sz="1000">
                          <a:solidFill>
                            <a:srgbClr val="212121"/>
                          </a:solidFill>
                        </a:defRPr>
                      </a:pPr>
                      <a:r>
                        <a:t>LLM + template fallback</a:t>
                      </a:r>
                    </a:p>
                  </a:txBody>
                  <a:tcPr>
                    <a:solidFill>
                      <a:srgbClr val="ECEFF1"/>
                    </a:solidFill>
                  </a:tcPr>
                </a:tc>
                <a:tc>
                  <a:txBody>
                    <a:bodyPr/>
                    <a:lstStyle/>
                    <a:p>
                      <a:pPr>
                        <a:defRPr sz="1000">
                          <a:solidFill>
                            <a:srgbClr val="212121"/>
                          </a:solidFill>
                        </a:defRPr>
                      </a:pPr>
                      <a:r>
                        <a:t>LLM-only</a:t>
                      </a:r>
                    </a:p>
                  </a:txBody>
                  <a:tcPr>
                    <a:solidFill>
                      <a:srgbClr val="ECEFF1"/>
                    </a:solidFill>
                  </a:tcPr>
                </a:tc>
                <a:tc>
                  <a:txBody>
                    <a:bodyPr/>
                    <a:lstStyle/>
                    <a:p>
                      <a:pPr>
                        <a:defRPr sz="1000">
                          <a:solidFill>
                            <a:srgbClr val="212121"/>
                          </a:solidFill>
                        </a:defRPr>
                      </a:pPr>
                      <a:r>
                        <a:t>Graceful degradation; no hard API dependency; consistent output</a:t>
                      </a:r>
                    </a:p>
                  </a:txBody>
                  <a:tcPr>
                    <a:solidFill>
                      <a:srgbClr val="ECEFF1"/>
                    </a:solidFill>
                  </a:tcPr>
                </a:tc>
              </a:tr>
              <a:tr h="347472">
                <a:tc>
                  <a:txBody>
                    <a:bodyPr/>
                    <a:lstStyle/>
                    <a:p>
                      <a:pPr>
                        <a:defRPr sz="1000">
                          <a:solidFill>
                            <a:srgbClr val="212121"/>
                          </a:solidFill>
                        </a:defRPr>
                      </a:pPr>
                      <a:r>
                        <a:t>Matching</a:t>
                      </a:r>
                    </a:p>
                  </a:txBody>
                  <a:tcPr/>
                </a:tc>
                <a:tc>
                  <a:txBody>
                    <a:bodyPr/>
                    <a:lstStyle/>
                    <a:p>
                      <a:pPr>
                        <a:defRPr sz="1000">
                          <a:solidFill>
                            <a:srgbClr val="212121"/>
                          </a:solidFill>
                        </a:defRPr>
                      </a:pPr>
                      <a:r>
                        <a:t>ID-suffix join</a:t>
                      </a:r>
                    </a:p>
                  </a:txBody>
                  <a:tcPr/>
                </a:tc>
                <a:tc>
                  <a:txBody>
                    <a:bodyPr/>
                    <a:lstStyle/>
                    <a:p>
                      <a:pPr>
                        <a:defRPr sz="1000">
                          <a:solidFill>
                            <a:srgbClr val="212121"/>
                          </a:solidFill>
                        </a:defRPr>
                      </a:pPr>
                      <a:r>
                        <a:t>Fuzzy text, vendor+date</a:t>
                      </a:r>
                    </a:p>
                  </a:txBody>
                  <a:tcPr/>
                </a:tc>
                <a:tc>
                  <a:txBody>
                    <a:bodyPr/>
                    <a:lstStyle/>
                    <a:p>
                      <a:pPr>
                        <a:defRPr sz="1000">
                          <a:solidFill>
                            <a:srgbClr val="212121"/>
                          </a:solidFill>
                        </a:defRPr>
                      </a:pPr>
                      <a:r>
                        <a:t>100% precision on structured IDs; clear production extension path</a:t>
                      </a:r>
                    </a:p>
                  </a:txBody>
                  <a:tcPr/>
                </a:tc>
              </a:tr>
              <a:tr h="347472">
                <a:tc>
                  <a:txBody>
                    <a:bodyPr/>
                    <a:lstStyle/>
                    <a:p>
                      <a:pPr>
                        <a:defRPr sz="1000">
                          <a:solidFill>
                            <a:srgbClr val="212121"/>
                          </a:solidFill>
                        </a:defRPr>
                      </a:pPr>
                      <a:r>
                        <a:t>RAG approach</a:t>
                      </a:r>
                    </a:p>
                  </a:txBody>
                  <a:tcPr>
                    <a:solidFill>
                      <a:srgbClr val="ECEFF1"/>
                    </a:solidFill>
                  </a:tcPr>
                </a:tc>
                <a:tc>
                  <a:txBody>
                    <a:bodyPr/>
                    <a:lstStyle/>
                    <a:p>
                      <a:pPr>
                        <a:defRPr sz="1000">
                          <a:solidFill>
                            <a:srgbClr val="212121"/>
                          </a:solidFill>
                        </a:defRPr>
                      </a:pPr>
                      <a:r>
                        <a:t>In-memory dict (MVP) -&gt; Azure AI Search (prod)</a:t>
                      </a:r>
                    </a:p>
                  </a:txBody>
                  <a:tcPr>
                    <a:solidFill>
                      <a:srgbClr val="ECEFF1"/>
                    </a:solidFill>
                  </a:tcPr>
                </a:tc>
                <a:tc>
                  <a:txBody>
                    <a:bodyPr/>
                    <a:lstStyle/>
                    <a:p>
                      <a:pPr>
                        <a:defRPr sz="1000">
                          <a:solidFill>
                            <a:srgbClr val="212121"/>
                          </a:solidFill>
                        </a:defRPr>
                      </a:pPr>
                      <a:r>
                        <a:t>Fine-tuned LLM</a:t>
                      </a:r>
                    </a:p>
                  </a:txBody>
                  <a:tcPr>
                    <a:solidFill>
                      <a:srgbClr val="ECEFF1"/>
                    </a:solidFill>
                  </a:tcPr>
                </a:tc>
                <a:tc>
                  <a:txBody>
                    <a:bodyPr/>
                    <a:lstStyle/>
                    <a:p>
                      <a:pPr>
                        <a:defRPr sz="1000">
                          <a:solidFill>
                            <a:srgbClr val="212121"/>
                          </a:solidFill>
                        </a:defRPr>
                      </a:pPr>
                      <a:r>
                        <a:t>Contracts change; RAG retrieves latest without retraining</a:t>
                      </a:r>
                    </a:p>
                  </a:txBody>
                  <a:tcPr>
                    <a:solidFill>
                      <a:srgbClr val="ECEFF1"/>
                    </a:solidFill>
                  </a:tcPr>
                </a:tc>
              </a:tr>
              <a:tr h="347472">
                <a:tc>
                  <a:txBody>
                    <a:bodyPr/>
                    <a:lstStyle/>
                    <a:p>
                      <a:pPr>
                        <a:defRPr sz="1000">
                          <a:solidFill>
                            <a:srgbClr val="212121"/>
                          </a:solidFill>
                        </a:defRPr>
                      </a:pPr>
                      <a:r>
                        <a:t>Data processing</a:t>
                      </a:r>
                    </a:p>
                  </a:txBody>
                  <a:tcPr/>
                </a:tc>
                <a:tc>
                  <a:txBody>
                    <a:bodyPr/>
                    <a:lstStyle/>
                    <a:p>
                      <a:pPr>
                        <a:defRPr sz="1000">
                          <a:solidFill>
                            <a:srgbClr val="212121"/>
                          </a:solidFill>
                        </a:defRPr>
                      </a:pPr>
                      <a:r>
                        <a:t>pandas</a:t>
                      </a:r>
                    </a:p>
                  </a:txBody>
                  <a:tcPr/>
                </a:tc>
                <a:tc>
                  <a:txBody>
                    <a:bodyPr/>
                    <a:lstStyle/>
                    <a:p>
                      <a:pPr>
                        <a:defRPr sz="1000">
                          <a:solidFill>
                            <a:srgbClr val="212121"/>
                          </a:solidFill>
                        </a:defRPr>
                      </a:pPr>
                      <a:r>
                        <a:t>PySpark, Polars</a:t>
                      </a:r>
                    </a:p>
                  </a:txBody>
                  <a:tcPr/>
                </a:tc>
                <a:tc>
                  <a:txBody>
                    <a:bodyPr/>
                    <a:lstStyle/>
                    <a:p>
                      <a:pPr>
                        <a:defRPr sz="1000">
                          <a:solidFill>
                            <a:srgbClr val="212121"/>
                          </a:solidFill>
                        </a:defRPr>
                      </a:pPr>
                      <a:r>
                        <a:t>Right-sized for 300 records; Polars is Phase 2 at 10K+/day</a:t>
                      </a:r>
                    </a:p>
                  </a:txBody>
                  <a:tcPr/>
                </a:tc>
              </a:tr>
              <a:tr h="347472">
                <a:tc>
                  <a:txBody>
                    <a:bodyPr/>
                    <a:lstStyle/>
                    <a:p>
                      <a:pPr>
                        <a:defRPr sz="1000">
                          <a:solidFill>
                            <a:srgbClr val="212121"/>
                          </a:solidFill>
                        </a:defRPr>
                      </a:pPr>
                      <a:r>
                        <a:t>State management</a:t>
                      </a:r>
                    </a:p>
                  </a:txBody>
                  <a:tcPr>
                    <a:solidFill>
                      <a:srgbClr val="ECEFF1"/>
                    </a:solidFill>
                  </a:tcPr>
                </a:tc>
                <a:tc>
                  <a:txBody>
                    <a:bodyPr/>
                    <a:lstStyle/>
                    <a:p>
                      <a:pPr>
                        <a:defRPr sz="1000">
                          <a:solidFill>
                            <a:srgbClr val="212121"/>
                          </a:solidFill>
                        </a:defRPr>
                      </a:pPr>
                      <a:r>
                        <a:t>TypedDict</a:t>
                      </a:r>
                    </a:p>
                  </a:txBody>
                  <a:tcPr>
                    <a:solidFill>
                      <a:srgbClr val="ECEFF1"/>
                    </a:solidFill>
                  </a:tcPr>
                </a:tc>
                <a:tc>
                  <a:txBody>
                    <a:bodyPr/>
                    <a:lstStyle/>
                    <a:p>
                      <a:pPr>
                        <a:defRPr sz="1000">
                          <a:solidFill>
                            <a:srgbClr val="212121"/>
                          </a:solidFill>
                        </a:defRPr>
                      </a:pPr>
                      <a:r>
                        <a:t>Pydantic, dataclass</a:t>
                      </a:r>
                    </a:p>
                  </a:txBody>
                  <a:tcPr>
                    <a:solidFill>
                      <a:srgbClr val="ECEFF1"/>
                    </a:solidFill>
                  </a:tcPr>
                </a:tc>
                <a:tc>
                  <a:txBody>
                    <a:bodyPr/>
                    <a:lstStyle/>
                    <a:p>
                      <a:pPr>
                        <a:defRPr sz="1000">
                          <a:solidFill>
                            <a:srgbClr val="212121"/>
                          </a:solidFill>
                        </a:defRPr>
                      </a:pPr>
                      <a:r>
                        <a:t>LangGraph native; zero serialisation overhead; IDE-friendly</a:t>
                      </a:r>
                    </a:p>
                  </a:txBody>
                  <a:tcPr>
                    <a:solidFill>
                      <a:srgbClr val="ECEFF1"/>
                    </a:solidFill>
                  </a:tcPr>
                </a:tc>
              </a:tr>
            </a:tbl>
          </a:graphicData>
        </a:graphic>
      </p:graphicFrame>
      <p:sp>
        <p:nvSpPr>
          <p:cNvPr id="4" name="TextBox 3"/>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5" name="TextBox 4"/>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686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lIns="254000" tIns="76200"/>
          <a:lstStyle/>
          <a:p>
            <a:pPr algn="ctr">
              <a:defRPr sz="2200" b="1">
                <a:solidFill>
                  <a:srgbClr val="FFFFFF"/>
                </a:solidFill>
              </a:defRPr>
            </a:pPr>
            <a:r>
              <a:t>Scalability Path &amp; Performance</a:t>
            </a:r>
          </a:p>
        </p:txBody>
      </p:sp>
      <p:graphicFrame>
        <p:nvGraphicFramePr>
          <p:cNvPr id="3" name="Table 2"/>
          <p:cNvGraphicFramePr>
            <a:graphicFrameLocks noGrp="1"/>
          </p:cNvGraphicFramePr>
          <p:nvPr/>
        </p:nvGraphicFramePr>
        <p:xfrm>
          <a:off x="365760" y="1005840"/>
          <a:ext cx="8412480" cy="3456432"/>
        </p:xfrm>
        <a:graphic>
          <a:graphicData uri="http://schemas.openxmlformats.org/drawingml/2006/table">
            <a:tbl>
              <a:tblPr firstRow="1" bandRow="1">
                <a:tableStyleId>{5C22544A-7EE6-4342-B048-85BDC9FD1C3A}</a:tableStyleId>
              </a:tblPr>
              <a:tblGrid>
                <a:gridCol w="2103120"/>
                <a:gridCol w="2103120"/>
                <a:gridCol w="2103120"/>
                <a:gridCol w="2103120"/>
              </a:tblGrid>
              <a:tr h="384048">
                <a:tc>
                  <a:txBody>
                    <a:bodyPr/>
                    <a:lstStyle/>
                    <a:p>
                      <a:pPr>
                        <a:defRPr sz="1100" b="1">
                          <a:solidFill>
                            <a:srgbClr val="FFFFFF"/>
                          </a:solidFill>
                        </a:defRPr>
                      </a:pPr>
                      <a:r>
                        <a:t>Dimension</a:t>
                      </a:r>
                    </a:p>
                  </a:txBody>
                  <a:tcPr>
                    <a:solidFill>
                      <a:srgbClr val="003D5B"/>
                    </a:solidFill>
                  </a:tcPr>
                </a:tc>
                <a:tc>
                  <a:txBody>
                    <a:bodyPr/>
                    <a:lstStyle/>
                    <a:p>
                      <a:pPr>
                        <a:defRPr sz="1100" b="1">
                          <a:solidFill>
                            <a:srgbClr val="FFFFFF"/>
                          </a:solidFill>
                        </a:defRPr>
                      </a:pPr>
                      <a:r>
                        <a:t>MVP (Now)</a:t>
                      </a:r>
                    </a:p>
                  </a:txBody>
                  <a:tcPr>
                    <a:solidFill>
                      <a:srgbClr val="003D5B"/>
                    </a:solidFill>
                  </a:tcPr>
                </a:tc>
                <a:tc>
                  <a:txBody>
                    <a:bodyPr/>
                    <a:lstStyle/>
                    <a:p>
                      <a:pPr>
                        <a:defRPr sz="1100" b="1">
                          <a:solidFill>
                            <a:srgbClr val="FFFFFF"/>
                          </a:solidFill>
                        </a:defRPr>
                      </a:pPr>
                      <a:r>
                        <a:t>Phase 2  (6 months)</a:t>
                      </a:r>
                    </a:p>
                  </a:txBody>
                  <a:tcPr>
                    <a:solidFill>
                      <a:srgbClr val="003D5B"/>
                    </a:solidFill>
                  </a:tcPr>
                </a:tc>
                <a:tc>
                  <a:txBody>
                    <a:bodyPr/>
                    <a:lstStyle/>
                    <a:p>
                      <a:pPr>
                        <a:defRPr sz="1100" b="1">
                          <a:solidFill>
                            <a:srgbClr val="FFFFFF"/>
                          </a:solidFill>
                        </a:defRPr>
                      </a:pPr>
                      <a:r>
                        <a:t>Phase 3  (12 months)</a:t>
                      </a:r>
                    </a:p>
                  </a:txBody>
                  <a:tcPr>
                    <a:solidFill>
                      <a:srgbClr val="003D5B"/>
                    </a:solidFill>
                  </a:tcPr>
                </a:tc>
              </a:tr>
              <a:tr h="384048">
                <a:tc>
                  <a:txBody>
                    <a:bodyPr/>
                    <a:lstStyle/>
                    <a:p>
                      <a:pPr>
                        <a:defRPr sz="1000">
                          <a:solidFill>
                            <a:srgbClr val="212121"/>
                          </a:solidFill>
                        </a:defRPr>
                      </a:pPr>
                      <a:r>
                        <a:t>Invoice volume</a:t>
                      </a:r>
                    </a:p>
                  </a:txBody>
                  <a:tcPr>
                    <a:solidFill>
                      <a:srgbClr val="ECEFF1"/>
                    </a:solidFill>
                  </a:tcPr>
                </a:tc>
                <a:tc>
                  <a:txBody>
                    <a:bodyPr/>
                    <a:lstStyle/>
                    <a:p>
                      <a:pPr>
                        <a:defRPr sz="1000">
                          <a:solidFill>
                            <a:srgbClr val="212121"/>
                          </a:solidFill>
                        </a:defRPr>
                      </a:pPr>
                      <a:r>
                        <a:t>300 / batch</a:t>
                      </a:r>
                    </a:p>
                  </a:txBody>
                  <a:tcPr>
                    <a:solidFill>
                      <a:srgbClr val="ECEFF1"/>
                    </a:solidFill>
                  </a:tcPr>
                </a:tc>
                <a:tc>
                  <a:txBody>
                    <a:bodyPr/>
                    <a:lstStyle/>
                    <a:p>
                      <a:pPr>
                        <a:defRPr sz="1000">
                          <a:solidFill>
                            <a:srgbClr val="212121"/>
                          </a:solidFill>
                        </a:defRPr>
                      </a:pPr>
                      <a:r>
                        <a:t>10K / day  (Polars)</a:t>
                      </a:r>
                    </a:p>
                  </a:txBody>
                  <a:tcPr>
                    <a:solidFill>
                      <a:srgbClr val="ECEFF1"/>
                    </a:solidFill>
                  </a:tcPr>
                </a:tc>
                <a:tc>
                  <a:txBody>
                    <a:bodyPr/>
                    <a:lstStyle/>
                    <a:p>
                      <a:pPr>
                        <a:defRPr sz="1000">
                          <a:solidFill>
                            <a:srgbClr val="212121"/>
                          </a:solidFill>
                        </a:defRPr>
                      </a:pPr>
                      <a:r>
                        <a:t>100K / day  (Spark)</a:t>
                      </a:r>
                    </a:p>
                  </a:txBody>
                  <a:tcPr>
                    <a:solidFill>
                      <a:srgbClr val="ECEFF1"/>
                    </a:solidFill>
                  </a:tcPr>
                </a:tc>
              </a:tr>
              <a:tr h="384048">
                <a:tc>
                  <a:txBody>
                    <a:bodyPr/>
                    <a:lstStyle/>
                    <a:p>
                      <a:pPr>
                        <a:defRPr sz="1000">
                          <a:solidFill>
                            <a:srgbClr val="212121"/>
                          </a:solidFill>
                        </a:defRPr>
                      </a:pPr>
                      <a:r>
                        <a:t>Matching</a:t>
                      </a:r>
                    </a:p>
                  </a:txBody>
                  <a:tcPr/>
                </a:tc>
                <a:tc>
                  <a:txBody>
                    <a:bodyPr/>
                    <a:lstStyle/>
                    <a:p>
                      <a:pPr>
                        <a:defRPr sz="1000">
                          <a:solidFill>
                            <a:srgbClr val="212121"/>
                          </a:solidFill>
                        </a:defRPr>
                      </a:pPr>
                      <a:r>
                        <a:t>ID-suffix, 100% prec</a:t>
                      </a:r>
                    </a:p>
                  </a:txBody>
                  <a:tcPr/>
                </a:tc>
                <a:tc>
                  <a:txBody>
                    <a:bodyPr/>
                    <a:lstStyle/>
                    <a:p>
                      <a:pPr>
                        <a:defRPr sz="1000">
                          <a:solidFill>
                            <a:srgbClr val="212121"/>
                          </a:solidFill>
                        </a:defRPr>
                      </a:pPr>
                      <a:r>
                        <a:t>Fuzzy + embeddings</a:t>
                      </a:r>
                    </a:p>
                  </a:txBody>
                  <a:tcPr/>
                </a:tc>
                <a:tc>
                  <a:txBody>
                    <a:bodyPr/>
                    <a:lstStyle/>
                    <a:p>
                      <a:pPr>
                        <a:defRPr sz="1000">
                          <a:solidFill>
                            <a:srgbClr val="212121"/>
                          </a:solidFill>
                        </a:defRPr>
                      </a:pPr>
                      <a:r>
                        <a:t>ML ensemble</a:t>
                      </a:r>
                    </a:p>
                  </a:txBody>
                  <a:tcPr/>
                </a:tc>
              </a:tr>
              <a:tr h="384048">
                <a:tc>
                  <a:txBody>
                    <a:bodyPr/>
                    <a:lstStyle/>
                    <a:p>
                      <a:pPr>
                        <a:defRPr sz="1000">
                          <a:solidFill>
                            <a:srgbClr val="212121"/>
                          </a:solidFill>
                        </a:defRPr>
                      </a:pPr>
                      <a:r>
                        <a:t>Classification</a:t>
                      </a:r>
                    </a:p>
                  </a:txBody>
                  <a:tcPr>
                    <a:solidFill>
                      <a:srgbClr val="ECEFF1"/>
                    </a:solidFill>
                  </a:tcPr>
                </a:tc>
                <a:tc>
                  <a:txBody>
                    <a:bodyPr/>
                    <a:lstStyle/>
                    <a:p>
                      <a:pPr>
                        <a:defRPr sz="1000">
                          <a:solidFill>
                            <a:srgbClr val="212121"/>
                          </a:solidFill>
                        </a:defRPr>
                      </a:pPr>
                      <a:r>
                        <a:t>4-rule priority</a:t>
                      </a:r>
                    </a:p>
                  </a:txBody>
                  <a:tcPr>
                    <a:solidFill>
                      <a:srgbClr val="ECEFF1"/>
                    </a:solidFill>
                  </a:tcPr>
                </a:tc>
                <a:tc>
                  <a:txBody>
                    <a:bodyPr/>
                    <a:lstStyle/>
                    <a:p>
                      <a:pPr>
                        <a:defRPr sz="1000">
                          <a:solidFill>
                            <a:srgbClr val="212121"/>
                          </a:solidFill>
                        </a:defRPr>
                      </a:pPr>
                      <a:r>
                        <a:t>Rules + RF hybrid</a:t>
                      </a:r>
                    </a:p>
                  </a:txBody>
                  <a:tcPr>
                    <a:solidFill>
                      <a:srgbClr val="ECEFF1"/>
                    </a:solidFill>
                  </a:tcPr>
                </a:tc>
                <a:tc>
                  <a:txBody>
                    <a:bodyPr/>
                    <a:lstStyle/>
                    <a:p>
                      <a:pPr>
                        <a:defRPr sz="1000">
                          <a:solidFill>
                            <a:srgbClr val="212121"/>
                          </a:solidFill>
                        </a:defRPr>
                      </a:pPr>
                      <a:r>
                        <a:t>Deep learning</a:t>
                      </a:r>
                    </a:p>
                  </a:txBody>
                  <a:tcPr>
                    <a:solidFill>
                      <a:srgbClr val="ECEFF1"/>
                    </a:solidFill>
                  </a:tcPr>
                </a:tc>
              </a:tr>
              <a:tr h="384048">
                <a:tc>
                  <a:txBody>
                    <a:bodyPr/>
                    <a:lstStyle/>
                    <a:p>
                      <a:pPr>
                        <a:defRPr sz="1000">
                          <a:solidFill>
                            <a:srgbClr val="212121"/>
                          </a:solidFill>
                        </a:defRPr>
                      </a:pPr>
                      <a:r>
                        <a:t>Ingestion</a:t>
                      </a:r>
                    </a:p>
                  </a:txBody>
                  <a:tcPr/>
                </a:tc>
                <a:tc>
                  <a:txBody>
                    <a:bodyPr/>
                    <a:lstStyle/>
                    <a:p>
                      <a:pPr>
                        <a:defRPr sz="1000">
                          <a:solidFill>
                            <a:srgbClr val="212121"/>
                          </a:solidFill>
                        </a:defRPr>
                      </a:pPr>
                      <a:r>
                        <a:t>CSV upload</a:t>
                      </a:r>
                    </a:p>
                  </a:txBody>
                  <a:tcPr/>
                </a:tc>
                <a:tc>
                  <a:txBody>
                    <a:bodyPr/>
                    <a:lstStyle/>
                    <a:p>
                      <a:pPr>
                        <a:defRPr sz="1000">
                          <a:solidFill>
                            <a:srgbClr val="212121"/>
                          </a:solidFill>
                        </a:defRPr>
                      </a:pPr>
                      <a:r>
                        <a:t>Blob trigger (event)</a:t>
                      </a:r>
                    </a:p>
                  </a:txBody>
                  <a:tcPr/>
                </a:tc>
                <a:tc>
                  <a:txBody>
                    <a:bodyPr/>
                    <a:lstStyle/>
                    <a:p>
                      <a:pPr>
                        <a:defRPr sz="1000">
                          <a:solidFill>
                            <a:srgbClr val="212121"/>
                          </a:solidFill>
                        </a:defRPr>
                      </a:pPr>
                      <a:r>
                        <a:t>Real-time stream</a:t>
                      </a:r>
                    </a:p>
                  </a:txBody>
                  <a:tcPr/>
                </a:tc>
              </a:tr>
              <a:tr h="384048">
                <a:tc>
                  <a:txBody>
                    <a:bodyPr/>
                    <a:lstStyle/>
                    <a:p>
                      <a:pPr>
                        <a:defRPr sz="1000">
                          <a:solidFill>
                            <a:srgbClr val="212121"/>
                          </a:solidFill>
                        </a:defRPr>
                      </a:pPr>
                      <a:r>
                        <a:t>LLM</a:t>
                      </a:r>
                    </a:p>
                  </a:txBody>
                  <a:tcPr>
                    <a:solidFill>
                      <a:srgbClr val="ECEFF1"/>
                    </a:solidFill>
                  </a:tcPr>
                </a:tc>
                <a:tc>
                  <a:txBody>
                    <a:bodyPr/>
                    <a:lstStyle/>
                    <a:p>
                      <a:pPr>
                        <a:defRPr sz="1000">
                          <a:solidFill>
                            <a:srgbClr val="212121"/>
                          </a:solidFill>
                        </a:defRPr>
                      </a:pPr>
                      <a:r>
                        <a:t>GPT-3.5 + template</a:t>
                      </a:r>
                    </a:p>
                  </a:txBody>
                  <a:tcPr>
                    <a:solidFill>
                      <a:srgbClr val="ECEFF1"/>
                    </a:solidFill>
                  </a:tcPr>
                </a:tc>
                <a:tc>
                  <a:txBody>
                    <a:bodyPr/>
                    <a:lstStyle/>
                    <a:p>
                      <a:pPr>
                        <a:defRPr sz="1000">
                          <a:solidFill>
                            <a:srgbClr val="212121"/>
                          </a:solidFill>
                        </a:defRPr>
                      </a:pPr>
                      <a:r>
                        <a:t>GPT-4o + fine-tuned</a:t>
                      </a:r>
                    </a:p>
                  </a:txBody>
                  <a:tcPr>
                    <a:solidFill>
                      <a:srgbClr val="ECEFF1"/>
                    </a:solidFill>
                  </a:tcPr>
                </a:tc>
                <a:tc>
                  <a:txBody>
                    <a:bodyPr/>
                    <a:lstStyle/>
                    <a:p>
                      <a:pPr>
                        <a:defRPr sz="1000">
                          <a:solidFill>
                            <a:srgbClr val="212121"/>
                          </a:solidFill>
                        </a:defRPr>
                      </a:pPr>
                      <a:r>
                        <a:t>Custom fine-tune</a:t>
                      </a:r>
                    </a:p>
                  </a:txBody>
                  <a:tcPr>
                    <a:solidFill>
                      <a:srgbClr val="ECEFF1"/>
                    </a:solidFill>
                  </a:tcPr>
                </a:tc>
              </a:tr>
              <a:tr h="384048">
                <a:tc>
                  <a:txBody>
                    <a:bodyPr/>
                    <a:lstStyle/>
                    <a:p>
                      <a:pPr>
                        <a:defRPr sz="1000">
                          <a:solidFill>
                            <a:srgbClr val="212121"/>
                          </a:solidFill>
                        </a:defRPr>
                      </a:pPr>
                      <a:r>
                        <a:t>Approval UI</a:t>
                      </a:r>
                    </a:p>
                  </a:txBody>
                  <a:tcPr/>
                </a:tc>
                <a:tc>
                  <a:txBody>
                    <a:bodyPr/>
                    <a:lstStyle/>
                    <a:p>
                      <a:pPr>
                        <a:defRPr sz="1000">
                          <a:solidFill>
                            <a:srgbClr val="212121"/>
                          </a:solidFill>
                        </a:defRPr>
                      </a:pPr>
                      <a:r>
                        <a:t>Console y/n</a:t>
                      </a:r>
                    </a:p>
                  </a:txBody>
                  <a:tcPr/>
                </a:tc>
                <a:tc>
                  <a:txBody>
                    <a:bodyPr/>
                    <a:lstStyle/>
                    <a:p>
                      <a:pPr>
                        <a:defRPr sz="1000">
                          <a:solidFill>
                            <a:srgbClr val="212121"/>
                          </a:solidFill>
                        </a:defRPr>
                      </a:pPr>
                      <a:r>
                        <a:t>Web UI + Slack bot</a:t>
                      </a:r>
                    </a:p>
                  </a:txBody>
                  <a:tcPr/>
                </a:tc>
                <a:tc>
                  <a:txBody>
                    <a:bodyPr/>
                    <a:lstStyle/>
                    <a:p>
                      <a:pPr>
                        <a:defRPr sz="1000">
                          <a:solidFill>
                            <a:srgbClr val="212121"/>
                          </a:solidFill>
                        </a:defRPr>
                      </a:pPr>
                      <a:r>
                        <a:t>Confidence auto-route</a:t>
                      </a:r>
                    </a:p>
                  </a:txBody>
                  <a:tcPr/>
                </a:tc>
              </a:tr>
              <a:tr h="384048">
                <a:tc>
                  <a:txBody>
                    <a:bodyPr/>
                    <a:lstStyle/>
                    <a:p>
                      <a:pPr>
                        <a:defRPr sz="1000">
                          <a:solidFill>
                            <a:srgbClr val="212121"/>
                          </a:solidFill>
                        </a:defRPr>
                      </a:pPr>
                      <a:r>
                        <a:t>Observability</a:t>
                      </a:r>
                    </a:p>
                  </a:txBody>
                  <a:tcPr>
                    <a:solidFill>
                      <a:srgbClr val="ECEFF1"/>
                    </a:solidFill>
                  </a:tcPr>
                </a:tc>
                <a:tc>
                  <a:txBody>
                    <a:bodyPr/>
                    <a:lstStyle/>
                    <a:p>
                      <a:pPr>
                        <a:defRPr sz="1000">
                          <a:solidFill>
                            <a:srgbClr val="212121"/>
                          </a:solidFill>
                        </a:defRPr>
                      </a:pPr>
                      <a:r>
                        <a:t>Structured logs</a:t>
                      </a:r>
                    </a:p>
                  </a:txBody>
                  <a:tcPr>
                    <a:solidFill>
                      <a:srgbClr val="ECEFF1"/>
                    </a:solidFill>
                  </a:tcPr>
                </a:tc>
                <a:tc>
                  <a:txBody>
                    <a:bodyPr/>
                    <a:lstStyle/>
                    <a:p>
                      <a:pPr>
                        <a:defRPr sz="1000">
                          <a:solidFill>
                            <a:srgbClr val="212121"/>
                          </a:solidFill>
                        </a:defRPr>
                      </a:pPr>
                      <a:r>
                        <a:t>Azure Monitor dashboard</a:t>
                      </a:r>
                    </a:p>
                  </a:txBody>
                  <a:tcPr>
                    <a:solidFill>
                      <a:srgbClr val="ECEFF1"/>
                    </a:solidFill>
                  </a:tcPr>
                </a:tc>
                <a:tc>
                  <a:txBody>
                    <a:bodyPr/>
                    <a:lstStyle/>
                    <a:p>
                      <a:pPr>
                        <a:defRPr sz="1000">
                          <a:solidFill>
                            <a:srgbClr val="212121"/>
                          </a:solidFill>
                        </a:defRPr>
                      </a:pPr>
                      <a:r>
                        <a:t>Anomaly detection</a:t>
                      </a:r>
                    </a:p>
                  </a:txBody>
                  <a:tcPr>
                    <a:solidFill>
                      <a:srgbClr val="ECEFF1"/>
                    </a:solidFill>
                  </a:tcPr>
                </a:tc>
              </a:tr>
              <a:tr h="384048">
                <a:tc>
                  <a:txBody>
                    <a:bodyPr/>
                    <a:lstStyle/>
                    <a:p>
                      <a:pPr>
                        <a:defRPr sz="1000">
                          <a:solidFill>
                            <a:srgbClr val="212121"/>
                          </a:solidFill>
                        </a:defRPr>
                      </a:pPr>
                      <a:r>
                        <a:t>Latency (E2E)</a:t>
                      </a:r>
                    </a:p>
                  </a:txBody>
                  <a:tcPr/>
                </a:tc>
                <a:tc>
                  <a:txBody>
                    <a:bodyPr/>
                    <a:lstStyle/>
                    <a:p>
                      <a:pPr>
                        <a:defRPr sz="1000">
                          <a:solidFill>
                            <a:srgbClr val="212121"/>
                          </a:solidFill>
                        </a:defRPr>
                      </a:pPr>
                      <a:r>
                        <a:t>&lt; 1 second</a:t>
                      </a:r>
                    </a:p>
                  </a:txBody>
                  <a:tcPr/>
                </a:tc>
                <a:tc>
                  <a:txBody>
                    <a:bodyPr/>
                    <a:lstStyle/>
                    <a:p>
                      <a:pPr>
                        <a:defRPr sz="1000">
                          <a:solidFill>
                            <a:srgbClr val="212121"/>
                          </a:solidFill>
                        </a:defRPr>
                      </a:pPr>
                      <a:r>
                        <a:t>&lt; 5 seconds</a:t>
                      </a:r>
                    </a:p>
                  </a:txBody>
                  <a:tcPr/>
                </a:tc>
                <a:tc>
                  <a:txBody>
                    <a:bodyPr/>
                    <a:lstStyle/>
                    <a:p>
                      <a:pPr>
                        <a:defRPr sz="1000">
                          <a:solidFill>
                            <a:srgbClr val="212121"/>
                          </a:solidFill>
                        </a:defRPr>
                      </a:pPr>
                      <a:r>
                        <a:t>&lt; 10 seconds</a:t>
                      </a:r>
                    </a:p>
                  </a:txBody>
                  <a:tcPr/>
                </a:tc>
              </a:tr>
            </a:tbl>
          </a:graphicData>
        </a:graphic>
      </p:graphicFrame>
      <p:sp>
        <p:nvSpPr>
          <p:cNvPr id="4" name="TextBox 3"/>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5" name="TextBox 4"/>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914400" y="731520"/>
            <a:ext cx="1645920" cy="54864"/>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731520"/>
          </a:xfrm>
          <a:prstGeom prst="rect">
            <a:avLst/>
          </a:prstGeom>
          <a:noFill/>
        </p:spPr>
        <p:txBody>
          <a:bodyPr wrap="square">
            <a:spAutoFit/>
          </a:bodyPr>
          <a:lstStyle/>
          <a:p>
            <a:pPr algn="l">
              <a:defRPr sz="2800" b="1" i="0">
                <a:solidFill>
                  <a:srgbClr val="FFFFFF"/>
                </a:solidFill>
              </a:defRPr>
            </a:pPr>
            <a:r>
              <a:t>SmartPay AP — Summary</a:t>
            </a:r>
          </a:p>
        </p:txBody>
      </p:sp>
      <p:sp>
        <p:nvSpPr>
          <p:cNvPr id="4" name="Rectangle 3"/>
          <p:cNvSpPr/>
          <p:nvPr/>
        </p:nvSpPr>
        <p:spPr>
          <a:xfrm>
            <a:off x="914400" y="1874519"/>
            <a:ext cx="7315200" cy="475488"/>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892807"/>
            <a:ext cx="2011680" cy="228600"/>
          </a:xfrm>
          <a:prstGeom prst="rect">
            <a:avLst/>
          </a:prstGeom>
          <a:noFill/>
        </p:spPr>
        <p:txBody>
          <a:bodyPr wrap="square">
            <a:spAutoFit/>
          </a:bodyPr>
          <a:lstStyle/>
          <a:p>
            <a:pPr algn="l">
              <a:defRPr sz="1100" b="1" i="0">
                <a:solidFill>
                  <a:srgbClr val="009688"/>
                </a:solidFill>
              </a:defRPr>
            </a:pPr>
            <a:r>
              <a:t>D2 — Matching Model</a:t>
            </a:r>
          </a:p>
        </p:txBody>
      </p:sp>
      <p:sp>
        <p:nvSpPr>
          <p:cNvPr id="6" name="TextBox 5"/>
          <p:cNvSpPr txBox="1"/>
          <p:nvPr/>
        </p:nvSpPr>
        <p:spPr>
          <a:xfrm>
            <a:off x="3108960" y="1892807"/>
            <a:ext cx="5029200" cy="438912"/>
          </a:xfrm>
          <a:prstGeom prst="rect">
            <a:avLst/>
          </a:prstGeom>
          <a:noFill/>
        </p:spPr>
        <p:txBody>
          <a:bodyPr wrap="square">
            <a:spAutoFit/>
          </a:bodyPr>
          <a:lstStyle/>
          <a:p>
            <a:pPr algn="l">
              <a:defRPr sz="1000" b="0" i="0">
                <a:solidFill>
                  <a:srgbClr val="CCCCCC"/>
                </a:solidFill>
              </a:defRPr>
            </a:pPr>
            <a:r>
              <a:t>Label-driven classification  |  Macro F1 = 1.000  |  100 unit tests passing</a:t>
            </a:r>
          </a:p>
        </p:txBody>
      </p:sp>
      <p:sp>
        <p:nvSpPr>
          <p:cNvPr id="7" name="Rectangle 6"/>
          <p:cNvSpPr/>
          <p:nvPr/>
        </p:nvSpPr>
        <p:spPr>
          <a:xfrm>
            <a:off x="914400" y="2423160"/>
            <a:ext cx="7315200" cy="475488"/>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41448"/>
            <a:ext cx="2011680" cy="228600"/>
          </a:xfrm>
          <a:prstGeom prst="rect">
            <a:avLst/>
          </a:prstGeom>
          <a:noFill/>
        </p:spPr>
        <p:txBody>
          <a:bodyPr wrap="square">
            <a:spAutoFit/>
          </a:bodyPr>
          <a:lstStyle/>
          <a:p>
            <a:pPr algn="l">
              <a:defRPr sz="1100" b="1" i="0">
                <a:solidFill>
                  <a:srgbClr val="009688"/>
                </a:solidFill>
              </a:defRPr>
            </a:pPr>
            <a:r>
              <a:t>D3 — Agentic Workflow</a:t>
            </a:r>
          </a:p>
        </p:txBody>
      </p:sp>
      <p:sp>
        <p:nvSpPr>
          <p:cNvPr id="9" name="TextBox 8"/>
          <p:cNvSpPr txBox="1"/>
          <p:nvPr/>
        </p:nvSpPr>
        <p:spPr>
          <a:xfrm>
            <a:off x="3108960" y="2441448"/>
            <a:ext cx="5029200" cy="438912"/>
          </a:xfrm>
          <a:prstGeom prst="rect">
            <a:avLst/>
          </a:prstGeom>
          <a:noFill/>
        </p:spPr>
        <p:txBody>
          <a:bodyPr wrap="square">
            <a:spAutoFit/>
          </a:bodyPr>
          <a:lstStyle/>
          <a:p>
            <a:pPr algn="l">
              <a:defRPr sz="1000" b="0" i="0">
                <a:solidFill>
                  <a:srgbClr val="CCCCCC"/>
                </a:solidFill>
              </a:defRPr>
            </a:pPr>
            <a:r>
              <a:t>6-node LangGraph  |  RAG grounding  |  4 guardrails  |  Immutable audit trail</a:t>
            </a:r>
          </a:p>
        </p:txBody>
      </p:sp>
      <p:sp>
        <p:nvSpPr>
          <p:cNvPr id="10" name="Rectangle 9"/>
          <p:cNvSpPr/>
          <p:nvPr/>
        </p:nvSpPr>
        <p:spPr>
          <a:xfrm>
            <a:off x="914400" y="2971800"/>
            <a:ext cx="7315200" cy="475488"/>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990088"/>
            <a:ext cx="2011680" cy="228600"/>
          </a:xfrm>
          <a:prstGeom prst="rect">
            <a:avLst/>
          </a:prstGeom>
          <a:noFill/>
        </p:spPr>
        <p:txBody>
          <a:bodyPr wrap="square">
            <a:spAutoFit/>
          </a:bodyPr>
          <a:lstStyle/>
          <a:p>
            <a:pPr algn="l">
              <a:defRPr sz="1100" b="1" i="0">
                <a:solidFill>
                  <a:srgbClr val="009688"/>
                </a:solidFill>
              </a:defRPr>
            </a:pPr>
            <a:r>
              <a:t>D4 — Responsible AI</a:t>
            </a:r>
          </a:p>
        </p:txBody>
      </p:sp>
      <p:sp>
        <p:nvSpPr>
          <p:cNvPr id="12" name="TextBox 11"/>
          <p:cNvSpPr txBox="1"/>
          <p:nvPr/>
        </p:nvSpPr>
        <p:spPr>
          <a:xfrm>
            <a:off x="3108960" y="2990088"/>
            <a:ext cx="5029200" cy="438912"/>
          </a:xfrm>
          <a:prstGeom prst="rect">
            <a:avLst/>
          </a:prstGeom>
          <a:noFill/>
        </p:spPr>
        <p:txBody>
          <a:bodyPr wrap="square">
            <a:spAutoFit/>
          </a:bodyPr>
          <a:lstStyle/>
          <a:p>
            <a:pPr algn="l">
              <a:defRPr sz="1000" b="0" i="0">
                <a:solidFill>
                  <a:srgbClr val="CCCCCC"/>
                </a:solidFill>
              </a:defRPr>
            </a:pPr>
            <a:r>
              <a:t>EU AI Act Art.14 HITL  |  GDPR-safe  |  SOX audit trail  |  Bias-free rules</a:t>
            </a:r>
          </a:p>
        </p:txBody>
      </p:sp>
      <p:sp>
        <p:nvSpPr>
          <p:cNvPr id="13" name="Rectangle 12"/>
          <p:cNvSpPr/>
          <p:nvPr/>
        </p:nvSpPr>
        <p:spPr>
          <a:xfrm>
            <a:off x="914400" y="3520440"/>
            <a:ext cx="7315200" cy="475488"/>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538728"/>
            <a:ext cx="2011680" cy="228600"/>
          </a:xfrm>
          <a:prstGeom prst="rect">
            <a:avLst/>
          </a:prstGeom>
          <a:noFill/>
        </p:spPr>
        <p:txBody>
          <a:bodyPr wrap="square">
            <a:spAutoFit/>
          </a:bodyPr>
          <a:lstStyle/>
          <a:p>
            <a:pPr algn="l">
              <a:defRPr sz="1100" b="1" i="0">
                <a:solidFill>
                  <a:srgbClr val="009688"/>
                </a:solidFill>
              </a:defRPr>
            </a:pPr>
            <a:r>
              <a:t>Multi-Cloud</a:t>
            </a:r>
          </a:p>
        </p:txBody>
      </p:sp>
      <p:sp>
        <p:nvSpPr>
          <p:cNvPr id="15" name="TextBox 14"/>
          <p:cNvSpPr txBox="1"/>
          <p:nvPr/>
        </p:nvSpPr>
        <p:spPr>
          <a:xfrm>
            <a:off x="3108960" y="3538728"/>
            <a:ext cx="5029200" cy="438912"/>
          </a:xfrm>
          <a:prstGeom prst="rect">
            <a:avLst/>
          </a:prstGeom>
          <a:noFill/>
        </p:spPr>
        <p:txBody>
          <a:bodyPr wrap="square">
            <a:spAutoFit/>
          </a:bodyPr>
          <a:lstStyle/>
          <a:p>
            <a:pPr algn="l">
              <a:defRPr sz="1000" b="0" i="0">
                <a:solidFill>
                  <a:srgbClr val="CCCCCC"/>
                </a:solidFill>
              </a:defRPr>
            </a:pPr>
            <a:r>
              <a:t>Azure primary + AWS DR  |  Kafka ingest  |  Serverless  |  $90-$193/mo prod</a:t>
            </a:r>
          </a:p>
        </p:txBody>
      </p:sp>
      <p:sp>
        <p:nvSpPr>
          <p:cNvPr id="16" name="Rectangle 15"/>
          <p:cNvSpPr/>
          <p:nvPr/>
        </p:nvSpPr>
        <p:spPr>
          <a:xfrm>
            <a:off x="914400" y="4069080"/>
            <a:ext cx="7315200" cy="475488"/>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087368"/>
            <a:ext cx="2011680" cy="228600"/>
          </a:xfrm>
          <a:prstGeom prst="rect">
            <a:avLst/>
          </a:prstGeom>
          <a:noFill/>
        </p:spPr>
        <p:txBody>
          <a:bodyPr wrap="square">
            <a:spAutoFit/>
          </a:bodyPr>
          <a:lstStyle/>
          <a:p>
            <a:pPr algn="l">
              <a:defRPr sz="1100" b="1" i="0">
                <a:solidFill>
                  <a:srgbClr val="009688"/>
                </a:solidFill>
              </a:defRPr>
            </a:pPr>
            <a:r>
              <a:t>Design Principles</a:t>
            </a:r>
          </a:p>
        </p:txBody>
      </p:sp>
      <p:sp>
        <p:nvSpPr>
          <p:cNvPr id="18" name="TextBox 17"/>
          <p:cNvSpPr txBox="1"/>
          <p:nvPr/>
        </p:nvSpPr>
        <p:spPr>
          <a:xfrm>
            <a:off x="3108960" y="4087368"/>
            <a:ext cx="5029200" cy="438912"/>
          </a:xfrm>
          <a:prstGeom prst="rect">
            <a:avLst/>
          </a:prstGeom>
          <a:noFill/>
        </p:spPr>
        <p:txBody>
          <a:bodyPr wrap="square">
            <a:spAutoFit/>
          </a:bodyPr>
          <a:lstStyle/>
          <a:p>
            <a:pPr algn="l">
              <a:defRPr sz="1000" b="0" i="0">
                <a:solidFill>
                  <a:srgbClr val="CCCCCC"/>
                </a:solidFill>
              </a:defRPr>
            </a:pPr>
            <a:r>
              <a:t>Determinism first  |  Human approves  |  Graceful degradation  |  Right-sized</a:t>
            </a:r>
          </a:p>
        </p:txBody>
      </p:sp>
      <p:sp>
        <p:nvSpPr>
          <p:cNvPr id="19" name="TextBox 18"/>
          <p:cNvSpPr txBox="1"/>
          <p:nvPr/>
        </p:nvSpPr>
        <p:spPr>
          <a:xfrm>
            <a:off x="914400" y="5715000"/>
            <a:ext cx="7315200" cy="457200"/>
          </a:xfrm>
          <a:prstGeom prst="rect">
            <a:avLst/>
          </a:prstGeom>
          <a:noFill/>
        </p:spPr>
        <p:txBody>
          <a:bodyPr wrap="square">
            <a:spAutoFit/>
          </a:bodyPr>
          <a:lstStyle/>
          <a:p>
            <a:pPr algn="ctr">
              <a:defRPr sz="1200" b="0" i="1">
                <a:solidFill>
                  <a:srgbClr val="6C757D"/>
                </a:solidFill>
              </a:defRPr>
            </a:pPr>
            <a:r>
              <a:t>Questions welcome.  GitHub repo includes all source, tests, notebook, and docs.</a:t>
            </a:r>
          </a:p>
        </p:txBody>
      </p:sp>
      <p:sp>
        <p:nvSpPr>
          <p:cNvPr id="20" name="TextBox 19"/>
          <p:cNvSpPr txBox="1"/>
          <p:nvPr/>
        </p:nvSpPr>
        <p:spPr>
          <a:xfrm>
            <a:off x="365760" y="6400800"/>
            <a:ext cx="7315200" cy="320040"/>
          </a:xfrm>
          <a:prstGeom prst="rect">
            <a:avLst/>
          </a:prstGeom>
          <a:noFill/>
        </p:spPr>
        <p:txBody>
          <a:bodyPr wrap="square">
            <a:spAutoFit/>
          </a:bodyPr>
          <a:lstStyle/>
          <a:p>
            <a:pPr algn="l">
              <a:defRPr sz="800" b="0" i="1">
                <a:solidFill>
                  <a:srgbClr val="6C757D"/>
                </a:solidFill>
              </a:defRPr>
            </a:pPr>
            <a:r>
              <a:t>SmartPay AP  |  AI Architect Case Study  |  Acme Manufacturing</a:t>
            </a:r>
          </a:p>
        </p:txBody>
      </p:sp>
      <p:sp>
        <p:nvSpPr>
          <p:cNvPr id="21" name="TextBox 20"/>
          <p:cNvSpPr txBox="1"/>
          <p:nvPr/>
        </p:nvSpPr>
        <p:spPr>
          <a:xfrm>
            <a:off x="8229600" y="6400800"/>
            <a:ext cx="731520" cy="320040"/>
          </a:xfrm>
          <a:prstGeom prst="rect">
            <a:avLst/>
          </a:prstGeom>
          <a:noFill/>
        </p:spPr>
        <p:txBody>
          <a:bodyPr wrap="square">
            <a:spAutoFit/>
          </a:bodyPr>
          <a:lstStyle/>
          <a:p>
            <a:pPr algn="r">
              <a:defRPr sz="800" b="0" i="0">
                <a:solidFill>
                  <a:srgbClr val="6C757D"/>
                </a:solidFill>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