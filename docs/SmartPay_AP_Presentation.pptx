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SmartPay 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BBDEFB"/>
                </a:solidFill>
              </a:defRPr>
            </a:pPr>
            <a:r>
              <a:t>AI-Powered Invoice Reconciliation for Acme Manufacturing</a:t>
            </a:r>
            <a:br/>
            <a:br/>
            <a:r>
              <a:t>AI Architect Case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25400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Acme Manufacturing's AP team manually reconciles 300+ invoices per cycle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Manual matching takes 8–12 hours per reconciliation cycle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Missed mismatches cause revenue leakage from undetected variances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Inconsistent follow-up leads to delayed dispute communications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No audit trail creates compliance gaps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Goal: Reduce reconciliation time by 80%+ while maintaining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human oversight on all external actions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25400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Three-Layer Architecture: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1. DATA PIPELINE — Ingest, validate, aggregate invoice/PO data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2. MATCHING &amp; CLASSIFICATION — Rule-based mismatch detection (4 types)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3. AGENTIC ORCHESTRATION — LangGraph workflow with Human-in-the-Loop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End-to-End Flow: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CSV Data → Matching Model → Classification → Agent Workflow → Human Approval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Key Principle: The AI agent plans and proposes; humans approve and 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25400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High-Level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│  DATA LAYER    →    CLASSIFICATION    →    AGENTIC LAYER │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Data Layer: CSV loading, validation, date parsing, aggregation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Classification: Matcher (ID-suffix join) + Classifier (4 rules)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Agent: LangGraph StateGraph with 4 nodes + conditional edges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Guardrails: Input validation, tool whitelist, HITL gate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All layers connected through clean Python interfaces (no tight coupling)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25400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Data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Input: AcmeMini Dataset (3 CSV files)</a:t>
            </a: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• invoices.csv — 1,500 line items across 300 invoices</a:t>
            </a: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• po_grn.csv — 300 purchase orders with GRN data</a:t>
            </a: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• labelled_mismatches.csv — 82 ground-truth labels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Processing Steps:</a:t>
            </a: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1. Load &amp; validate columns (schema enforcement)</a:t>
            </a: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2. Parse dates (DD-MM-YYYY → datetime)</a:t>
            </a: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3. Handle nulls/invalid numerics (log warning &amp; exclude)</a:t>
            </a: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4. Aggregate line items → one total per invoice_id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Design: Fail fast on schema issues, graceful on data quality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25400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Matching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Approach: Numeric ID Suffix Extraction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INV0001 → extract '0001' → match to PO0001</a:t>
            </a: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INV0042 → extract '0042' → match to PO0042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Why this approach?</a:t>
            </a: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• AcmeMini uses clear INV000X ↔ PO000X convention</a:t>
            </a: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• Achieves 100% match rate on current dataset</a:t>
            </a: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• More reliable than fuzzy matching for structured IDs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Validation Flags: vendor_match, currency_match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Semantics: Left-join — all invoices appear; unmatched ones flagged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25400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Classification Engine — Rule-Based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Detection Logic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Confidence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MISSING_PO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No matching PO found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TAX_MISCODE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Difference is 5–25% of min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0.8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QUANTITY_VARIANCE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Ratio &gt; 20% (whole-unit delta)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0.75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PRICE_VARIANCE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Remaining diffs above tolerance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0.70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25400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Why Rules Over ML?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Decision: Rule-based classification over Machine Learning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Rationale:</a:t>
            </a: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• Only 82 labelled samples — insufficient for reliable ML training</a:t>
            </a: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• Rules are interpretable and auditable (critical for finance)</a:t>
            </a: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• Thresholds are configurable without retraining</a:t>
            </a: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• Priority ordering prevents multi-classification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Future Path:</a:t>
            </a: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• When &gt;500 labelled records accumulate → train ML model</a:t>
            </a: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• Current rule-based metrics serve as ML benchmark</a:t>
            </a: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• Hybrid approach: ML predictions + rule-based confidence scoring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25400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Agentic Workflow (LangGraph)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Workflow Graph:</a:t>
            </a: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START → Planner → Matcher → Dispute Generator → Human Approval → END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Node Responsibilities:</a:t>
            </a: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• Planner: Analyze invoices, produce reconciliation plan</a:t>
            </a: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• Matcher: Invoke matching model as tool, classify mismatches</a:t>
            </a: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• Dispute Generator: Draft emails per mismatch (LLM or template)</a:t>
            </a: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• Human Approval: Display draft, wait for y/n confirmation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Conditional Edge:</a:t>
            </a: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• Approved → END (proceed with email)</a:t>
            </a: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• Rejected → Discard node (log rejection, drop draft)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25400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Dispute Email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Dual-Mode Strategy: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• LLM Mode (GPT-3.5-turbo): Natural, contextual language</a:t>
            </a: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• Template Mode (fallback): Consistent, reliable, no API needed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Email Contents:</a:t>
            </a: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• Professional greeting addressed to vendor</a:t>
            </a: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• Invoice ID + PO number references</a:t>
            </a: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• Mismatch type and exact discrepancy amount</a:t>
            </a: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• Resolution request per type:</a:t>
            </a: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  — PRICE/QUANTITY → credit note or corrected invoice</a:t>
            </a: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  — TAX_MISCODE → tax calculation correction</a:t>
            </a: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  — MISSING_PO → provide PO reference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25400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Guardrails &amp; Responsible AI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Guardrail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What It Prevents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Input Validation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Malformed invoice IDs (must match INV\d+)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Tool Whitelist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Agent calling unregistered/arbitrary tools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Auto-Send Prevention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Emails sent without human review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Rejection Logging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Full audit trail for discarded drafts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25400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Why Chosen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Python 3.10+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Primary language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Rich ML/data ecosystem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pandas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Data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Ideal for &lt;1K row datasets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scikit-learn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Evaluation metrics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Industry standard P/R/F1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LangGraph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Agent orchestration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Explicit HITL, state control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OpenAI GPT-3.5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Email generation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Cost-effective, quality output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pytest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Testing (96 tests)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Concise, parametrize support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25400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Production Deployment — Multi-Cloud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Azure (Primary):</a:t>
            </a: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• Blob Storage → Azure Functions → Azure OpenAI</a:t>
            </a: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• Cosmos DB for workflow state</a:t>
            </a: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• Azure AD for identity &amp; access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AWS (Secondary / DR):</a:t>
            </a: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• S3 → Lambda → Amazon Bedrock (LLM fallback)</a:t>
            </a: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• DynamoDB for state replication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Shared Services:</a:t>
            </a: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• Key Vault / Secrets Manager for API keys</a:t>
            </a: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• CI/CD via GitHub Actions / Azure DevOps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Estimated Cost: ~$50–$100/month (serverless, scales to zero)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25400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Scalability &amp; Future Roadmap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Current (AcmeMini)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Production Future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Data Volume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300 invoices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10K+/day → Spark/Polars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Matching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ID-suffix pairing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Fuzzy + ML matching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Classification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Rules (82 labels)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ML model (500+ labels)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Batch (&lt;1 sec)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Event-driven (real-time)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Currencies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Single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Multi-currency + FX rates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Approval 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Console y/n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Web UI + approval chains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25400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Summary &amp;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What SmartPay AP Delivers: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✓ Automated matching — 300 invoices matched in &lt;1 second</a:t>
            </a: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✓ Intelligent classification — 4 mismatch types, configurable rules</a:t>
            </a: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✓ Agentic workflow — End-to-end orchestration with LangGraph</a:t>
            </a: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✓ Human oversight — No external action without explicit approval</a:t>
            </a: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✓ Production-ready — Guardrails, audit logging, template fallback</a:t>
            </a: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✓ Extensible — Clear path from rules to ML as data grows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Design Principles:</a:t>
            </a: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• Interpretability over black-box (auditable rules)</a:t>
            </a: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• Human-in-the-loop (AI proposes, humans approve)</a:t>
            </a: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• Graceful degradation (template fallback, error tolerance)</a:t>
            </a:r>
          </a:p>
          <a:p>
            <a:pPr lvl="1"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  • Right-sized technology (no over-engineering)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